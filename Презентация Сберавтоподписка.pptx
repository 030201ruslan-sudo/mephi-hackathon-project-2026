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678"/>
    <p:restoredTop sz="94630"/>
  </p:normalViewPr>
  <p:slideViewPr>
    <p:cSldViewPr snapToGrid="0">
      <p:cViewPr varScale="1">
        <p:scale>
          <a:sx n="57" d="100"/>
          <a:sy n="57" d="100"/>
        </p:scale>
        <p:origin x="176" y="18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A2AFAE-F2CB-0AAB-624B-65AA84EB13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7E18095-0B4E-F67B-3AAF-7DCC64201B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51EC8E3-0405-6F17-E12C-7054EA3D6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070DD-1DF0-734B-88EF-F97EF0E0AD9B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FB38487-9BED-92B5-F6DE-1DC6F7AB0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924DBE8-897D-B082-8FEB-1FE0BFB34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52551-9FB2-5541-B8D2-7646634E6A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7390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8A006B-8387-AFC0-E2A8-8CF292B3A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2CE644B-972E-54E0-E4AB-1F87F55429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6BF857B-DDD1-07E0-7D23-FB587BEA2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070DD-1DF0-734B-88EF-F97EF0E0AD9B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1B6D93D-8BA2-C028-3028-37C7469A4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6B84B7E-294B-9401-85C3-69A3F987F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52551-9FB2-5541-B8D2-7646634E6A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3135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FF62A7-F7FD-44AA-D079-B4B672277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BDA7777-ED79-CAE1-9ED0-9323C1983E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E378138-80A1-3CC7-8F95-EC21BBA69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070DD-1DF0-734B-88EF-F97EF0E0AD9B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B238865-7A87-262E-E374-B3EE2CDB9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8BE4556-7C98-278E-406E-C06CC2FAD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52551-9FB2-5541-B8D2-7646634E6A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4566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B59148-55DE-7B92-1BEC-59153334B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B505565-9259-DCCB-C1BE-12FB3AEC9F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1ADBF6B-AF22-BEC8-4F26-71FE639439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40FA524-E5DB-4736-5721-CFA49EBF8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070DD-1DF0-734B-88EF-F97EF0E0AD9B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C312B7C-3D1E-8B20-0C95-1420F8BD1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DFC13B3-BFB1-53C8-FFD6-CBC6E8E7D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52551-9FB2-5541-B8D2-7646634E6A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6216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21D110-B068-3891-6080-C1013F8E2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74C001C-1C36-571F-7E1E-811FFDDC3C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151F983-45C8-A778-E850-285F96EE0E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91C5432-4B0F-DD17-6DFB-B147D3E995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9D25544-AD40-1C80-FF46-BC7EE9F29A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A24AE35-13AB-F81B-C371-8034386EA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070DD-1DF0-734B-88EF-F97EF0E0AD9B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A20F37F-C721-2638-E4F1-8C0589649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A1D0221-B044-6163-2F3B-7901B19CB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52551-9FB2-5541-B8D2-7646634E6A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2302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DA00C8-1305-C273-64D9-0E96C8D4A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94B216F-ADCA-0086-C603-297AED0D4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070DD-1DF0-734B-88EF-F97EF0E0AD9B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47C0044-C67A-F622-5108-CA19204D7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A276A42-CCB3-CD9C-B501-0D78587B1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52551-9FB2-5541-B8D2-7646634E6A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17601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A428921-4BE0-C35F-F017-A54490DE6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070DD-1DF0-734B-88EF-F97EF0E0AD9B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7AC8611-D719-3843-8A3C-5B43BF74D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24F23A8-1657-0D0B-52DD-05F136FB8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52551-9FB2-5541-B8D2-7646634E6A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5222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128151-C211-35D6-8C04-903144069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D5F3269-EE11-8661-2699-366F9E21D1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6FB0E28-A729-9DB4-9596-7B73E3FC42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30629DD-83F5-53D1-7A32-BF8997D3B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070DD-1DF0-734B-88EF-F97EF0E0AD9B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C6A0A8A-F17F-4CE6-6B0B-F688E60DA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C8921F4-F32D-2CAB-5552-0FECC5486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52551-9FB2-5541-B8D2-7646634E6A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6429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4BFBB5-01E3-AC80-846C-ADA482D59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FA02486-45C9-676C-E8B5-9175DA8BEF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A0E4EC0-BB2E-E9A4-4975-DE91255F3D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63B52A4-4A32-183F-8B42-8A8CD3005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070DD-1DF0-734B-88EF-F97EF0E0AD9B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6DC074B-D548-B872-6950-0BDBEF1FB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D05D471-FEF7-DF98-BFC5-78A49069D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52551-9FB2-5541-B8D2-7646634E6A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7484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87F365-8813-C544-B610-93E47D72F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C401C86-067A-B00C-110D-657FB7FAB7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B6DFB89-A869-BC92-1697-AE4F784BA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070DD-1DF0-734B-88EF-F97EF0E0AD9B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27B7614-4874-892A-423D-957728FFA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D6AAC73-7B4F-11F6-4BFE-1923FA016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52551-9FB2-5541-B8D2-7646634E6A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8257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A6F3981-287E-8CAC-785E-AEF594CC95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EB29DD1-2A1D-D762-1F43-8A01F673FE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CABB142-C9B2-B221-4F76-DD11ACA9D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070DD-1DF0-734B-88EF-F97EF0E0AD9B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8C61A4C-B855-2BB7-ED9F-3AFEB08E1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38FA628-842A-7DA1-A1A3-E3DCAB364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52551-9FB2-5541-B8D2-7646634E6A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44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562D0D-9FE5-E99F-D44C-7D626518F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150C686-84EE-356A-FE1B-D646FAEC22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64729D6-2F17-1DDF-69EB-4EACABFF58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F070DD-1DF0-734B-88EF-F97EF0E0AD9B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E21A5CA-963F-9FC0-602A-79614FBED1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F1202DA-07DF-253B-6C24-805F83297A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652551-9FB2-5541-B8D2-7646634E6A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764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C19B08AB-550D-951F-B660-95A38238D4C4}"/>
              </a:ext>
            </a:extLst>
          </p:cNvPr>
          <p:cNvSpPr txBox="1"/>
          <p:nvPr/>
        </p:nvSpPr>
        <p:spPr>
          <a:xfrm>
            <a:off x="3261360" y="1523017"/>
            <a:ext cx="5669280" cy="615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lc="http://schemas.openxmlformats.org/drawingml/2006/lockedCanvas" val="1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lIns="0" tIns="0" rIns="0" bIns="0" anchor="ctr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algn="ctr">
              <a:defRPr b="1">
                <a:solidFill>
                  <a:srgbClr val="111111"/>
                </a:solidFill>
              </a:defRPr>
            </a:pPr>
            <a:r>
              <a:rPr sz="2000">
                <a:latin typeface="Tisa Offc Serif Pro" panose="02010504030101020102" pitchFamily="2" charset="0"/>
              </a:rPr>
              <a:t>Анализ сайта</a:t>
            </a:r>
          </a:p>
          <a:p>
            <a:pPr algn="ctr">
              <a:defRPr b="1">
                <a:solidFill>
                  <a:srgbClr val="111111"/>
                </a:solidFill>
              </a:defRPr>
            </a:pPr>
            <a:r>
              <a:rPr sz="2000">
                <a:latin typeface="Tisa Offc Serif Pro" panose="02010504030101020102" pitchFamily="2" charset="0"/>
              </a:rPr>
              <a:t>«СберАвтоподписка»</a:t>
            </a: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26FF8879-728B-0C4F-86DD-9D24FE5AD4C9}"/>
              </a:ext>
            </a:extLst>
          </p:cNvPr>
          <p:cNvSpPr txBox="1"/>
          <p:nvPr/>
        </p:nvSpPr>
        <p:spPr>
          <a:xfrm>
            <a:off x="3119428" y="2805959"/>
            <a:ext cx="6044584" cy="4308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lc="http://schemas.openxmlformats.org/drawingml/2006/lockedCanvas" val="1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rgbClr val="565656"/>
                </a:solidFill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r>
              <a:rPr sz="1400">
                <a:latin typeface="Tisa Offc Serif Pro" panose="02010504030101020102" pitchFamily="2" charset="0"/>
              </a:rPr>
              <a:t>Модель прогнозирования вероятности целевого действия пользователя на сайте</a:t>
            </a: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0CBAAE23-7E4D-33DD-476E-89EE9E326FB0}"/>
              </a:ext>
            </a:extLst>
          </p:cNvPr>
          <p:cNvSpPr txBox="1"/>
          <p:nvPr/>
        </p:nvSpPr>
        <p:spPr>
          <a:xfrm>
            <a:off x="3809999" y="4274247"/>
            <a:ext cx="4663441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lc="http://schemas.openxmlformats.org/drawingml/2006/lockedCanvas" val="1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lIns="0" tIns="0" rIns="0" bIns="0" anchor="ctr">
            <a:spAutoFit/>
          </a:bodyPr>
          <a:lstStyle>
            <a:lvl1pPr algn="ctr">
              <a:defRPr sz="1300" b="1">
                <a:solidFill>
                  <a:srgbClr val="111111"/>
                </a:solidFill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r>
              <a:rPr sz="1400">
                <a:latin typeface="Tisa Offc Serif Pro" panose="02010504030101020102" pitchFamily="2" charset="0"/>
              </a:rPr>
              <a:t>Итоговый результат: ROC-AUC ≈ 0.65</a:t>
            </a:r>
          </a:p>
        </p:txBody>
      </p:sp>
    </p:spTree>
    <p:extLst>
      <p:ext uri="{BB962C8B-B14F-4D97-AF65-F5344CB8AC3E}">
        <p14:creationId xmlns:p14="http://schemas.microsoft.com/office/powerpoint/2010/main" val="30659365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C52BC012-0D1C-C429-DF98-131EDB8E7DF8}"/>
              </a:ext>
            </a:extLst>
          </p:cNvPr>
          <p:cNvSpPr txBox="1"/>
          <p:nvPr/>
        </p:nvSpPr>
        <p:spPr>
          <a:xfrm>
            <a:off x="718138" y="1332458"/>
            <a:ext cx="10607042" cy="2775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lc="http://schemas.openxmlformats.org/drawingml/2006/lockedCanvas" val="1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lIns="253" tIns="253" rIns="253" bIns="253" anchor="ctr">
            <a:spAutoFit/>
          </a:bodyPr>
          <a:lstStyle>
            <a:lvl1pPr algn="ctr">
              <a:defRPr b="1">
                <a:solidFill>
                  <a:srgbClr val="111111"/>
                </a:solidFill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Данные и подготовка</a:t>
            </a: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A2A2E34-3329-924C-4CCB-0D1A40216D34}"/>
              </a:ext>
            </a:extLst>
          </p:cNvPr>
          <p:cNvSpPr txBox="1"/>
          <p:nvPr/>
        </p:nvSpPr>
        <p:spPr>
          <a:xfrm>
            <a:off x="946738" y="1753753"/>
            <a:ext cx="10149842" cy="1390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lc="http://schemas.openxmlformats.org/drawingml/2006/lockedCanvas" val="1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lIns="253" tIns="253" rIns="253" bIns="253" anchor="ctr">
            <a:spAutoFit/>
          </a:bodyPr>
          <a:lstStyle>
            <a:lvl1pPr algn="ctr">
              <a:defRPr sz="900">
                <a:solidFill>
                  <a:srgbClr val="565656"/>
                </a:solidFill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Исправленная схема: ga_hits используется только для target, признаки берутся из ga_sessions</a:t>
            </a:r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3418B4D5-57F5-3682-61F4-0D97CAF05554}"/>
              </a:ext>
            </a:extLst>
          </p:cNvPr>
          <p:cNvSpPr/>
          <p:nvPr/>
        </p:nvSpPr>
        <p:spPr>
          <a:xfrm>
            <a:off x="686134" y="2422188"/>
            <a:ext cx="2514601" cy="2971801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chemeClr val="accent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lIns="45719" rIns="45719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>
              <a:defRPr sz="1000"/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F95AE69E-5CDF-4429-D7EA-9FC81F67A682}"/>
              </a:ext>
            </a:extLst>
          </p:cNvPr>
          <p:cNvSpPr txBox="1"/>
          <p:nvPr/>
        </p:nvSpPr>
        <p:spPr>
          <a:xfrm>
            <a:off x="850726" y="2578417"/>
            <a:ext cx="2240281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lc="http://schemas.openxmlformats.org/drawingml/2006/lockedCanvas" val="1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lIns="0" tIns="0" rIns="0" bIns="0" anchor="ctr">
            <a:spAutoFit/>
          </a:bodyPr>
          <a:lstStyle>
            <a:lvl1pPr>
              <a:defRPr sz="1000" b="1">
                <a:solidFill>
                  <a:srgbClr val="111111"/>
                </a:solidFill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ga_sessions</a:t>
            </a:r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5C8450D0-C38C-4704-ECD2-7E4C17EE72AA}"/>
              </a:ext>
            </a:extLst>
          </p:cNvPr>
          <p:cNvSpPr txBox="1"/>
          <p:nvPr/>
        </p:nvSpPr>
        <p:spPr>
          <a:xfrm>
            <a:off x="850726" y="2861100"/>
            <a:ext cx="2240281" cy="2441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lc="http://schemas.openxmlformats.org/drawingml/2006/lockedCanvas" val="1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lIns="380" tIns="380" rIns="380" bIns="380">
            <a:norm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>
              <a:defRPr sz="1000">
                <a:solidFill>
                  <a:srgbClr val="111111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одна строка = один визит</a:t>
            </a:r>
          </a:p>
          <a:p>
            <a:pPr>
              <a:defRPr sz="1000">
                <a:solidFill>
                  <a:srgbClr val="111111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utm_source / utm_medium</a:t>
            </a:r>
          </a:p>
          <a:p>
            <a:pPr>
              <a:defRPr sz="1000">
                <a:solidFill>
                  <a:srgbClr val="111111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device_*</a:t>
            </a:r>
          </a:p>
          <a:p>
            <a:pPr>
              <a:defRPr sz="1000">
                <a:solidFill>
                  <a:srgbClr val="111111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geo_*</a:t>
            </a:r>
          </a:p>
          <a:p>
            <a:pPr>
              <a:defRPr sz="1000">
                <a:solidFill>
                  <a:srgbClr val="111111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visit_number</a:t>
            </a:r>
          </a:p>
          <a:p>
            <a:pPr>
              <a:defRPr sz="1000">
                <a:solidFill>
                  <a:srgbClr val="111111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visit_date / visit_time</a:t>
            </a:r>
          </a:p>
        </p:txBody>
      </p:sp>
      <p:sp>
        <p:nvSpPr>
          <p:cNvPr id="14" name="Shape 6">
            <a:extLst>
              <a:ext uri="{FF2B5EF4-FFF2-40B4-BE49-F238E27FC236}">
                <a16:creationId xmlns:a16="http://schemas.microsoft.com/office/drawing/2014/main" id="{9B40CBCF-96D9-73E8-5197-C68EA02AEAAD}"/>
              </a:ext>
            </a:extLst>
          </p:cNvPr>
          <p:cNvSpPr/>
          <p:nvPr/>
        </p:nvSpPr>
        <p:spPr>
          <a:xfrm>
            <a:off x="4755214" y="2422188"/>
            <a:ext cx="2514601" cy="2971801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chemeClr val="accent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lIns="45719" rIns="45719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>
              <a:defRPr sz="1000"/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6BC051C2-9E7E-7CDE-7BD9-1D1589CEA1CD}"/>
              </a:ext>
            </a:extLst>
          </p:cNvPr>
          <p:cNvSpPr txBox="1"/>
          <p:nvPr/>
        </p:nvSpPr>
        <p:spPr>
          <a:xfrm>
            <a:off x="4919806" y="2578417"/>
            <a:ext cx="2240281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lc="http://schemas.openxmlformats.org/drawingml/2006/lockedCanvas" val="1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lIns="0" tIns="0" rIns="0" bIns="0" anchor="ctr">
            <a:spAutoFit/>
          </a:bodyPr>
          <a:lstStyle>
            <a:lvl1pPr>
              <a:defRPr sz="1000" b="1">
                <a:solidFill>
                  <a:srgbClr val="111111"/>
                </a:solidFill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ga_hits</a:t>
            </a:r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B496E14F-70F0-884A-481C-864E4570F893}"/>
              </a:ext>
            </a:extLst>
          </p:cNvPr>
          <p:cNvSpPr txBox="1"/>
          <p:nvPr/>
        </p:nvSpPr>
        <p:spPr>
          <a:xfrm>
            <a:off x="4919806" y="2861100"/>
            <a:ext cx="2240281" cy="2441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lc="http://schemas.openxmlformats.org/drawingml/2006/lockedCanvas" val="1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lIns="380" tIns="380" rIns="380" bIns="380">
            <a:norm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>
              <a:defRPr sz="1000">
                <a:solidFill>
                  <a:srgbClr val="111111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одна строка = событие</a:t>
            </a:r>
          </a:p>
          <a:p>
            <a:pPr>
              <a:defRPr sz="1000">
                <a:solidFill>
                  <a:srgbClr val="111111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event_action</a:t>
            </a:r>
          </a:p>
          <a:p>
            <a:pPr>
              <a:defRPr sz="1000">
                <a:solidFill>
                  <a:srgbClr val="111111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используется только для target</a:t>
            </a:r>
          </a:p>
          <a:p>
            <a:pPr>
              <a:defRPr sz="1000">
                <a:solidFill>
                  <a:srgbClr val="111111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без агрегатов по всей сессии</a:t>
            </a:r>
          </a:p>
        </p:txBody>
      </p:sp>
      <p:sp>
        <p:nvSpPr>
          <p:cNvPr id="19" name="Shape 10">
            <a:extLst>
              <a:ext uri="{FF2B5EF4-FFF2-40B4-BE49-F238E27FC236}">
                <a16:creationId xmlns:a16="http://schemas.microsoft.com/office/drawing/2014/main" id="{DEEA279A-512A-B7EC-5B54-6D2351123860}"/>
              </a:ext>
            </a:extLst>
          </p:cNvPr>
          <p:cNvSpPr/>
          <p:nvPr/>
        </p:nvSpPr>
        <p:spPr>
          <a:xfrm>
            <a:off x="8842583" y="2422188"/>
            <a:ext cx="2514601" cy="2971801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chemeClr val="accent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lIns="45719" rIns="45719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>
              <a:defRPr sz="1000"/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4D45E86C-4F3A-E8B8-255A-44B8937F1A46}"/>
              </a:ext>
            </a:extLst>
          </p:cNvPr>
          <p:cNvSpPr txBox="1"/>
          <p:nvPr/>
        </p:nvSpPr>
        <p:spPr>
          <a:xfrm>
            <a:off x="9007175" y="2578417"/>
            <a:ext cx="2240280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lc="http://schemas.openxmlformats.org/drawingml/2006/lockedCanvas" val="1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lIns="0" tIns="0" rIns="0" bIns="0" anchor="ctr">
            <a:spAutoFit/>
          </a:bodyPr>
          <a:lstStyle>
            <a:lvl1pPr>
              <a:defRPr sz="1000" b="1">
                <a:solidFill>
                  <a:srgbClr val="111111"/>
                </a:solidFill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Итоговая таблица</a:t>
            </a:r>
          </a:p>
        </p:txBody>
      </p:sp>
      <p:sp>
        <p:nvSpPr>
          <p:cNvPr id="21" name="Text 13">
            <a:extLst>
              <a:ext uri="{FF2B5EF4-FFF2-40B4-BE49-F238E27FC236}">
                <a16:creationId xmlns:a16="http://schemas.microsoft.com/office/drawing/2014/main" id="{29973C4F-437F-E98D-8E81-5052B299E255}"/>
              </a:ext>
            </a:extLst>
          </p:cNvPr>
          <p:cNvSpPr txBox="1"/>
          <p:nvPr/>
        </p:nvSpPr>
        <p:spPr>
          <a:xfrm>
            <a:off x="9007175" y="2861100"/>
            <a:ext cx="2240280" cy="2441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lc="http://schemas.openxmlformats.org/drawingml/2006/lockedCanvas" val="1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lIns="380" tIns="380" rIns="380" bIns="380">
            <a:norm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>
              <a:defRPr sz="1000">
                <a:solidFill>
                  <a:srgbClr val="111111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session_id - has_target</a:t>
            </a:r>
          </a:p>
          <a:p>
            <a:pPr>
              <a:defRPr sz="1000">
                <a:solidFill>
                  <a:srgbClr val="111111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без hits_count</a:t>
            </a:r>
          </a:p>
          <a:p>
            <a:pPr>
              <a:defRPr sz="1000">
                <a:solidFill>
                  <a:srgbClr val="111111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без pages_count</a:t>
            </a:r>
          </a:p>
          <a:p>
            <a:pPr>
              <a:defRPr sz="1000">
                <a:solidFill>
                  <a:srgbClr val="111111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без event_count</a:t>
            </a:r>
          </a:p>
        </p:txBody>
      </p:sp>
      <p:sp>
        <p:nvSpPr>
          <p:cNvPr id="22" name="Shape 14">
            <a:extLst>
              <a:ext uri="{FF2B5EF4-FFF2-40B4-BE49-F238E27FC236}">
                <a16:creationId xmlns:a16="http://schemas.microsoft.com/office/drawing/2014/main" id="{29F02896-442A-8DF4-B841-E16AFB81A3E6}"/>
              </a:ext>
            </a:extLst>
          </p:cNvPr>
          <p:cNvSpPr/>
          <p:nvPr/>
        </p:nvSpPr>
        <p:spPr>
          <a:xfrm>
            <a:off x="3369899" y="3793788"/>
            <a:ext cx="1188720" cy="1"/>
          </a:xfrm>
          <a:prstGeom prst="line">
            <a:avLst/>
          </a:prstGeom>
          <a:ln w="13970">
            <a:solidFill>
              <a:srgbClr val="565656"/>
            </a:solidFill>
            <a:tail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lIns="45719" rIns="45719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15">
            <a:extLst>
              <a:ext uri="{FF2B5EF4-FFF2-40B4-BE49-F238E27FC236}">
                <a16:creationId xmlns:a16="http://schemas.microsoft.com/office/drawing/2014/main" id="{09F36190-2F2C-8749-C7C1-A0E1F0CBD619}"/>
              </a:ext>
            </a:extLst>
          </p:cNvPr>
          <p:cNvSpPr/>
          <p:nvPr/>
        </p:nvSpPr>
        <p:spPr>
          <a:xfrm>
            <a:off x="7438979" y="3793788"/>
            <a:ext cx="1188721" cy="1"/>
          </a:xfrm>
          <a:prstGeom prst="line">
            <a:avLst/>
          </a:prstGeom>
          <a:ln w="13970">
            <a:solidFill>
              <a:srgbClr val="565656"/>
            </a:solidFill>
            <a:tail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lIns="45719" rIns="45719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3203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F923D-E7EE-670E-DDFC-7023418A9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887B8EED-F7F8-2796-231F-B91117B77568}"/>
              </a:ext>
            </a:extLst>
          </p:cNvPr>
          <p:cNvSpPr txBox="1"/>
          <p:nvPr/>
        </p:nvSpPr>
        <p:spPr>
          <a:xfrm>
            <a:off x="516859" y="1507531"/>
            <a:ext cx="10607042" cy="2775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lc="http://schemas.openxmlformats.org/drawingml/2006/lockedCanvas" val="1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lIns="253" tIns="253" rIns="253" bIns="253" anchor="ctr">
            <a:spAutoFit/>
          </a:bodyPr>
          <a:lstStyle>
            <a:lvl1pPr algn="ctr">
              <a:defRPr b="1">
                <a:solidFill>
                  <a:srgbClr val="111111"/>
                </a:solidFill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Цель и бизнес-задача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BD9B3C9-756A-B646-A340-5D44AC9D1107}"/>
              </a:ext>
            </a:extLst>
          </p:cNvPr>
          <p:cNvSpPr txBox="1"/>
          <p:nvPr/>
        </p:nvSpPr>
        <p:spPr>
          <a:xfrm>
            <a:off x="608300" y="2579627"/>
            <a:ext cx="2560321" cy="1541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lc="http://schemas.openxmlformats.org/drawingml/2006/lockedCanvas" val="1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lIns="126" tIns="126" rIns="126" bIns="126" anchor="ctr">
            <a:spAutoFit/>
          </a:bodyPr>
          <a:lstStyle>
            <a:lvl1pPr>
              <a:defRPr sz="1000" b="1">
                <a:solidFill>
                  <a:srgbClr val="111111"/>
                </a:solidFill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Цель</a:t>
            </a: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74698999-6FA1-C0DA-32B3-5EC2E74878FD}"/>
              </a:ext>
            </a:extLst>
          </p:cNvPr>
          <p:cNvSpPr txBox="1"/>
          <p:nvPr/>
        </p:nvSpPr>
        <p:spPr>
          <a:xfrm>
            <a:off x="608300" y="2963022"/>
            <a:ext cx="2834640" cy="12801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lc="http://schemas.openxmlformats.org/drawingml/2006/lockedCanvas" val="1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lIns="380" tIns="380" rIns="380" bIns="380">
            <a:normAutofit/>
          </a:bodyPr>
          <a:lstStyle>
            <a:lvl1pPr>
              <a:defRPr sz="800">
                <a:solidFill>
                  <a:srgbClr val="111111"/>
                </a:solidFill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Предсказать вероятность того, что пользователь совершит целевое действие: заявку, звонок, открытие диалога или другой ключевой шаг.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3850AD9-2F71-962A-26E5-A385024E702F}"/>
              </a:ext>
            </a:extLst>
          </p:cNvPr>
          <p:cNvSpPr txBox="1"/>
          <p:nvPr/>
        </p:nvSpPr>
        <p:spPr>
          <a:xfrm>
            <a:off x="4357340" y="2579627"/>
            <a:ext cx="2743201" cy="1541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lc="http://schemas.openxmlformats.org/drawingml/2006/lockedCanvas" val="1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lIns="126" tIns="126" rIns="126" bIns="126" anchor="ctr">
            <a:spAutoFit/>
          </a:bodyPr>
          <a:lstStyle>
            <a:lvl1pPr>
              <a:defRPr sz="1000" b="1">
                <a:solidFill>
                  <a:srgbClr val="111111"/>
                </a:solidFill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Практическая польза</a:t>
            </a: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2B77CFE9-636F-8452-03A9-1AED5D4B321C}"/>
              </a:ext>
            </a:extLst>
          </p:cNvPr>
          <p:cNvSpPr txBox="1"/>
          <p:nvPr/>
        </p:nvSpPr>
        <p:spPr>
          <a:xfrm>
            <a:off x="4357340" y="2963022"/>
            <a:ext cx="2834641" cy="1554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lc="http://schemas.openxmlformats.org/drawingml/2006/lockedCanvas" val="1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lIns="507" tIns="507" rIns="507" bIns="507">
            <a:norm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>
              <a:defRPr sz="800">
                <a:solidFill>
                  <a:srgbClr val="111111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оценивать качество каналов трафика</a:t>
            </a:r>
          </a:p>
          <a:p>
            <a:pPr>
              <a:defRPr sz="800">
                <a:solidFill>
                  <a:srgbClr val="111111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адаптировать рекламные кампании</a:t>
            </a:r>
          </a:p>
          <a:p>
            <a:pPr>
              <a:defRPr sz="800">
                <a:solidFill>
                  <a:srgbClr val="111111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искать слабые места UX</a:t>
            </a:r>
          </a:p>
          <a:p>
            <a:pPr>
              <a:defRPr sz="800">
                <a:solidFill>
                  <a:srgbClr val="111111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выделять визиты с высоким шансом заявки</a:t>
            </a:r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05C218A8-E78C-96E8-E2D5-23A2F64D1715}"/>
              </a:ext>
            </a:extLst>
          </p:cNvPr>
          <p:cNvSpPr txBox="1"/>
          <p:nvPr/>
        </p:nvSpPr>
        <p:spPr>
          <a:xfrm>
            <a:off x="8197820" y="2579627"/>
            <a:ext cx="2926081" cy="1541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lc="http://schemas.openxmlformats.org/drawingml/2006/lockedCanvas" val="1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lIns="126" tIns="126" rIns="126" bIns="126" anchor="ctr">
            <a:spAutoFit/>
          </a:bodyPr>
          <a:lstStyle>
            <a:lvl1pPr>
              <a:defRPr sz="1000" b="1">
                <a:solidFill>
                  <a:srgbClr val="111111"/>
                </a:solidFill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ML-постановка</a:t>
            </a:r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6DA7A006-0D50-7BD3-F767-BC8707D810DC}"/>
              </a:ext>
            </a:extLst>
          </p:cNvPr>
          <p:cNvSpPr txBox="1"/>
          <p:nvPr/>
        </p:nvSpPr>
        <p:spPr>
          <a:xfrm>
            <a:off x="8197820" y="2963022"/>
            <a:ext cx="2971800" cy="1737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lc="http://schemas.openxmlformats.org/drawingml/2006/lockedCanvas" val="1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lIns="380" tIns="380" rIns="380" bIns="380">
            <a:norm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>
              <a:defRPr sz="800">
                <a:solidFill>
                  <a:srgbClr val="111111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Бинарная классификация:</a:t>
            </a:r>
          </a:p>
          <a:p>
            <a:pPr>
              <a:defRPr sz="800">
                <a:solidFill>
                  <a:srgbClr val="111111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0 - целевого действия нет</a:t>
            </a:r>
          </a:p>
          <a:p>
            <a:pPr>
              <a:defRPr sz="800">
                <a:solidFill>
                  <a:srgbClr val="111111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1 - целевое действие есть</a:t>
            </a:r>
          </a:p>
          <a:p>
            <a:pPr>
              <a:defRPr sz="800"/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800">
                <a:solidFill>
                  <a:srgbClr val="111111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Основная метрика - ROC-AUC, потому что модель возвращает вероятность целевого действия.</a:t>
            </a:r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A9540CF8-51C1-2C78-6F07-A3309E6B90B1}"/>
              </a:ext>
            </a:extLst>
          </p:cNvPr>
          <p:cNvSpPr/>
          <p:nvPr/>
        </p:nvSpPr>
        <p:spPr>
          <a:xfrm flipH="1">
            <a:off x="3808699" y="2460102"/>
            <a:ext cx="1" cy="3383281"/>
          </a:xfrm>
          <a:prstGeom prst="line">
            <a:avLst/>
          </a:prstGeom>
          <a:ln w="12700">
            <a:solidFill>
              <a:srgbClr val="E8E8E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lIns="45719" rIns="45719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endParaRPr/>
          </a:p>
        </p:txBody>
      </p:sp>
      <p:sp>
        <p:nvSpPr>
          <p:cNvPr id="17" name="Shape 8">
            <a:extLst>
              <a:ext uri="{FF2B5EF4-FFF2-40B4-BE49-F238E27FC236}">
                <a16:creationId xmlns:a16="http://schemas.microsoft.com/office/drawing/2014/main" id="{083C517B-A1EA-AF2A-7EDD-4DF5E06408C7}"/>
              </a:ext>
            </a:extLst>
          </p:cNvPr>
          <p:cNvSpPr/>
          <p:nvPr/>
        </p:nvSpPr>
        <p:spPr>
          <a:xfrm>
            <a:off x="7649179" y="2460102"/>
            <a:ext cx="1" cy="3383281"/>
          </a:xfrm>
          <a:prstGeom prst="line">
            <a:avLst/>
          </a:prstGeom>
          <a:ln w="12700">
            <a:solidFill>
              <a:srgbClr val="E8E8E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lIns="45719" rIns="45719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32699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928D4-20D7-FC5F-8224-2E9CB45E8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7587B81A-7DEA-E1D7-2F4E-3A58DA90F14E}"/>
              </a:ext>
            </a:extLst>
          </p:cNvPr>
          <p:cNvSpPr txBox="1"/>
          <p:nvPr/>
        </p:nvSpPr>
        <p:spPr>
          <a:xfrm>
            <a:off x="785045" y="1329171"/>
            <a:ext cx="10607042" cy="2597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lc="http://schemas.openxmlformats.org/drawingml/2006/lockedCanvas" val="1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lIns="253" tIns="253" rIns="253" bIns="253" anchor="ctr">
            <a:spAutoFit/>
          </a:bodyPr>
          <a:lstStyle>
            <a:lvl1pPr algn="ctr">
              <a:defRPr b="1">
                <a:solidFill>
                  <a:srgbClr val="111111"/>
                </a:solidFill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r>
              <a:t>EDA: дисбаланс классов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898088C-2808-7A42-A681-1257ADCF75A8}"/>
              </a:ext>
            </a:extLst>
          </p:cNvPr>
          <p:cNvSpPr txBox="1"/>
          <p:nvPr/>
        </p:nvSpPr>
        <p:spPr>
          <a:xfrm>
            <a:off x="3926631" y="2600382"/>
            <a:ext cx="1508761" cy="33855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lc="http://schemas.openxmlformats.org/drawingml/2006/lockedCanvas" val="1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lIns="0" tIns="0" rIns="0" bIns="0" anchor="ctr">
            <a:spAutoFit/>
          </a:bodyPr>
          <a:lstStyle>
            <a:lvl1pPr algn="ctr">
              <a:defRPr sz="2200" b="1">
                <a:solidFill>
                  <a:schemeClr val="accent6">
                    <a:lumOff val="-9568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2.7%</a:t>
            </a: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9F9B0A22-B9D2-0818-E266-A4D10550ACEA}"/>
              </a:ext>
            </a:extLst>
          </p:cNvPr>
          <p:cNvSpPr txBox="1"/>
          <p:nvPr/>
        </p:nvSpPr>
        <p:spPr>
          <a:xfrm>
            <a:off x="3656516" y="3099623"/>
            <a:ext cx="2011679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lc="http://schemas.openxmlformats.org/drawingml/2006/lockedCanvas" val="1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111111"/>
                </a:solidFill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визитов с целевым действием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DB05B6C-9BB0-9A5F-2687-A97E38CE5A67}"/>
              </a:ext>
            </a:extLst>
          </p:cNvPr>
          <p:cNvSpPr txBox="1"/>
          <p:nvPr/>
        </p:nvSpPr>
        <p:spPr>
          <a:xfrm>
            <a:off x="6399716" y="2600382"/>
            <a:ext cx="1691640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lc="http://schemas.openxmlformats.org/drawingml/2006/lockedCanvas" val="1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lIns="0" tIns="0" rIns="0" bIns="0" anchor="ctr">
            <a:spAutoFit/>
          </a:bodyPr>
          <a:lstStyle>
            <a:lvl1pPr algn="ctr">
              <a:defRPr sz="2200" b="1">
                <a:solidFill>
                  <a:schemeClr val="accent2">
                    <a:satOff val="-18194"/>
                    <a:lumOff val="-11215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97.3%</a:t>
            </a: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35A1D359-80D4-4994-7C75-DB7AB8D34BB7}"/>
              </a:ext>
            </a:extLst>
          </p:cNvPr>
          <p:cNvSpPr txBox="1"/>
          <p:nvPr/>
        </p:nvSpPr>
        <p:spPr>
          <a:xfrm>
            <a:off x="6171116" y="3099623"/>
            <a:ext cx="2148840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lc="http://schemas.openxmlformats.org/drawingml/2006/lockedCanvas" val="1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111111"/>
                </a:solidFill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визитов без целевого действия</a:t>
            </a:r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74CBA450-58FB-09E5-0C7B-7FC35BDA3698}"/>
              </a:ext>
            </a:extLst>
          </p:cNvPr>
          <p:cNvSpPr txBox="1"/>
          <p:nvPr/>
        </p:nvSpPr>
        <p:spPr>
          <a:xfrm>
            <a:off x="3605401" y="4370377"/>
            <a:ext cx="6189869" cy="9601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lc="http://schemas.openxmlformats.org/drawingml/2006/lockedCanvas" val="1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lIns="380" tIns="380" rIns="380" bIns="380">
            <a:norm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>
              <a:defRPr sz="1200">
                <a:solidFill>
                  <a:srgbClr val="111111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Классы сильно несбалансированы: положительный класс редкий.</a:t>
            </a:r>
          </a:p>
          <a:p>
            <a:pPr>
              <a:defRPr sz="1200"/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200">
                <a:solidFill>
                  <a:srgbClr val="111111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Поэтому для оценки качества использована ROC-AUC, а не только accuracy.</a:t>
            </a:r>
          </a:p>
        </p:txBody>
      </p:sp>
    </p:spTree>
    <p:extLst>
      <p:ext uri="{BB962C8B-B14F-4D97-AF65-F5344CB8AC3E}">
        <p14:creationId xmlns:p14="http://schemas.microsoft.com/office/powerpoint/2010/main" val="1140954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02501-C50C-9497-EC7A-83D7AC2AF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159A386F-7E7D-1441-19AD-04FF4AAADCD1}"/>
              </a:ext>
            </a:extLst>
          </p:cNvPr>
          <p:cNvSpPr txBox="1"/>
          <p:nvPr/>
        </p:nvSpPr>
        <p:spPr>
          <a:xfrm>
            <a:off x="823164" y="955540"/>
            <a:ext cx="10607042" cy="2775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lc="http://schemas.openxmlformats.org/drawingml/2006/lockedCanvas" val="1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lIns="253" tIns="253" rIns="253" bIns="253" anchor="ctr">
            <a:spAutoFit/>
          </a:bodyPr>
          <a:lstStyle>
            <a:lvl1pPr algn="ctr">
              <a:defRPr b="1">
                <a:solidFill>
                  <a:srgbClr val="111111"/>
                </a:solidFill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EDA: закономерности конверсии</a:t>
            </a:r>
          </a:p>
        </p:txBody>
      </p:sp>
      <p:pic>
        <p:nvPicPr>
          <p:cNvPr id="4" name="Image 1" descr="Image 1">
            <a:extLst>
              <a:ext uri="{FF2B5EF4-FFF2-40B4-BE49-F238E27FC236}">
                <a16:creationId xmlns:a16="http://schemas.microsoft.com/office/drawing/2014/main" id="{4E7262F5-870B-DA72-ED06-D94D50B2FE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965" y="2101518"/>
            <a:ext cx="5440681" cy="3042184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009508CC-C477-0BBF-8BA6-A19745949621}"/>
              </a:ext>
            </a:extLst>
          </p:cNvPr>
          <p:cNvSpPr txBox="1"/>
          <p:nvPr/>
        </p:nvSpPr>
        <p:spPr>
          <a:xfrm>
            <a:off x="960324" y="6280917"/>
            <a:ext cx="10894629" cy="1697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lc="http://schemas.openxmlformats.org/drawingml/2006/lockedCanvas" val="1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lIns="253" tIns="253" rIns="253" bIns="253" anchor="ctr">
            <a:spAutoFit/>
          </a:bodyPr>
          <a:lstStyle>
            <a:lvl1pPr algn="ctr">
              <a:defRPr sz="1100">
                <a:solidFill>
                  <a:srgbClr val="111111"/>
                </a:solidFill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Вывод: конверсия отличается по типу трафика, повторности визита, устройству и времени визита. Эти признаки включены в модель как безопасные признаки визита.</a:t>
            </a:r>
          </a:p>
        </p:txBody>
      </p:sp>
      <p:pic>
        <p:nvPicPr>
          <p:cNvPr id="6" name="вставленный-фильм.png">
            <a:extLst>
              <a:ext uri="{FF2B5EF4-FFF2-40B4-BE49-F238E27FC236}">
                <a16:creationId xmlns:a16="http://schemas.microsoft.com/office/drawing/2014/main" id="{5673A98A-FB5A-AFE2-CB06-0EDF6BBCA8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413" y="2215376"/>
            <a:ext cx="5033433" cy="2814469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1192761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79718-D316-26F7-2B24-C562C8708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DBDB10D3-94F1-1FAD-3251-C8034F3B94E7}"/>
              </a:ext>
            </a:extLst>
          </p:cNvPr>
          <p:cNvSpPr txBox="1"/>
          <p:nvPr/>
        </p:nvSpPr>
        <p:spPr>
          <a:xfrm>
            <a:off x="1008069" y="1015212"/>
            <a:ext cx="10607042" cy="2775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lc="http://schemas.openxmlformats.org/drawingml/2006/lockedCanvas" val="1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lIns="253" tIns="253" rIns="253" bIns="253" anchor="ctr">
            <a:spAutoFit/>
          </a:bodyPr>
          <a:lstStyle>
            <a:lvl1pPr algn="ctr">
              <a:defRPr b="1">
                <a:solidFill>
                  <a:srgbClr val="111111"/>
                </a:solidFill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Моделирование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23EB97A-B726-FC0E-C509-1C6F7DE2BAE2}"/>
              </a:ext>
            </a:extLst>
          </p:cNvPr>
          <p:cNvSpPr/>
          <p:nvPr/>
        </p:nvSpPr>
        <p:spPr>
          <a:xfrm>
            <a:off x="1008070" y="1958407"/>
            <a:ext cx="2926080" cy="3200401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chemeClr val="accent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lIns="45719" rIns="45719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>
              <a:defRPr sz="1200"/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5BA09529-4488-5BEC-DB47-ECC86A809575}"/>
              </a:ext>
            </a:extLst>
          </p:cNvPr>
          <p:cNvSpPr txBox="1"/>
          <p:nvPr/>
        </p:nvSpPr>
        <p:spPr>
          <a:xfrm>
            <a:off x="1172662" y="2099246"/>
            <a:ext cx="2651761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lc="http://schemas.openxmlformats.org/drawingml/2006/lockedCanvas" val="1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111111"/>
                </a:solidFill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1. Подготовка признаков</a:t>
            </a:r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EC181157-DA92-D998-AD97-BDAF416FA525}"/>
              </a:ext>
            </a:extLst>
          </p:cNvPr>
          <p:cNvSpPr txBox="1"/>
          <p:nvPr/>
        </p:nvSpPr>
        <p:spPr>
          <a:xfrm>
            <a:off x="1172662" y="2397319"/>
            <a:ext cx="2651761" cy="2670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lc="http://schemas.openxmlformats.org/drawingml/2006/lockedCanvas" val="1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lIns="380" tIns="380" rIns="380" bIns="380">
            <a:norm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>
              <a:defRPr sz="1200">
                <a:solidFill>
                  <a:srgbClr val="111111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пропуски заполнены</a:t>
            </a:r>
          </a:p>
          <a:p>
            <a:pPr>
              <a:defRPr sz="1200">
                <a:solidFill>
                  <a:srgbClr val="111111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числовые признаки масштабированы</a:t>
            </a:r>
          </a:p>
          <a:p>
            <a:pPr>
              <a:defRPr sz="1200">
                <a:solidFill>
                  <a:srgbClr val="111111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категории закодированы OneHotEncoder</a:t>
            </a:r>
          </a:p>
          <a:p>
            <a:pPr>
              <a:defRPr sz="1200">
                <a:solidFill>
                  <a:srgbClr val="111111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редкие категории укрупнены в «other»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BA6C298B-7E64-BB77-EF61-58FEF5E829C0}"/>
              </a:ext>
            </a:extLst>
          </p:cNvPr>
          <p:cNvSpPr/>
          <p:nvPr/>
        </p:nvSpPr>
        <p:spPr>
          <a:xfrm>
            <a:off x="4848550" y="1958407"/>
            <a:ext cx="2926080" cy="3200401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chemeClr val="accent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lIns="45719" rIns="45719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>
              <a:defRPr sz="1200"/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A9DEC39A-3D8E-5347-9450-E748D04E0A76}"/>
              </a:ext>
            </a:extLst>
          </p:cNvPr>
          <p:cNvSpPr txBox="1"/>
          <p:nvPr/>
        </p:nvSpPr>
        <p:spPr>
          <a:xfrm>
            <a:off x="5013141" y="2099246"/>
            <a:ext cx="2651762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lc="http://schemas.openxmlformats.org/drawingml/2006/lockedCanvas" val="1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111111"/>
                </a:solidFill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2. Time split</a:t>
            </a:r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54BBACB4-9F4D-8148-EA28-5C013CDE7318}"/>
              </a:ext>
            </a:extLst>
          </p:cNvPr>
          <p:cNvSpPr txBox="1"/>
          <p:nvPr/>
        </p:nvSpPr>
        <p:spPr>
          <a:xfrm>
            <a:off x="5013141" y="2397319"/>
            <a:ext cx="2651762" cy="2670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lc="http://schemas.openxmlformats.org/drawingml/2006/lockedCanvas" val="1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lIns="380" tIns="380" rIns="380" bIns="380">
            <a:norm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>
              <a:defRPr sz="1200">
                <a:solidFill>
                  <a:srgbClr val="111111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разделение 80/20 по времени</a:t>
            </a:r>
          </a:p>
          <a:p>
            <a:pPr>
              <a:defRPr sz="1200">
                <a:solidFill>
                  <a:srgbClr val="111111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train = ранние визиты</a:t>
            </a:r>
          </a:p>
          <a:p>
            <a:pPr>
              <a:defRPr sz="1200">
                <a:solidFill>
                  <a:srgbClr val="111111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test = более поздние визиты</a:t>
            </a:r>
          </a:p>
          <a:p>
            <a:pPr>
              <a:defRPr sz="1200">
                <a:solidFill>
                  <a:srgbClr val="111111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оценка ближе к реальному сценарию</a:t>
            </a:r>
          </a:p>
        </p:txBody>
      </p:sp>
      <p:sp>
        <p:nvSpPr>
          <p:cNvPr id="16" name="Shape 10">
            <a:extLst>
              <a:ext uri="{FF2B5EF4-FFF2-40B4-BE49-F238E27FC236}">
                <a16:creationId xmlns:a16="http://schemas.microsoft.com/office/drawing/2014/main" id="{66CE0C3F-2D43-1DF5-6AC1-A08EFB592E4F}"/>
              </a:ext>
            </a:extLst>
          </p:cNvPr>
          <p:cNvSpPr/>
          <p:nvPr/>
        </p:nvSpPr>
        <p:spPr>
          <a:xfrm>
            <a:off x="8686489" y="1958407"/>
            <a:ext cx="2926081" cy="3200401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chemeClr val="accent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lIns="45719" rIns="45719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>
              <a:defRPr sz="1200"/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96868C71-80F9-B787-9756-5F143D719079}"/>
              </a:ext>
            </a:extLst>
          </p:cNvPr>
          <p:cNvSpPr txBox="1"/>
          <p:nvPr/>
        </p:nvSpPr>
        <p:spPr>
          <a:xfrm>
            <a:off x="8853622" y="2099246"/>
            <a:ext cx="2651761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lc="http://schemas.openxmlformats.org/drawingml/2006/lockedCanvas" val="1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111111"/>
                </a:solidFill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3. Сравнение моделей</a:t>
            </a:r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5C50D82A-DA9E-BD44-9FE1-FECFDC2D8902}"/>
              </a:ext>
            </a:extLst>
          </p:cNvPr>
          <p:cNvSpPr txBox="1"/>
          <p:nvPr/>
        </p:nvSpPr>
        <p:spPr>
          <a:xfrm>
            <a:off x="8853622" y="2397319"/>
            <a:ext cx="2651761" cy="2670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lc="http://schemas.openxmlformats.org/drawingml/2006/lockedCanvas" val="1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lIns="380" tIns="380" rIns="380" bIns="380">
            <a:norm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>
              <a:defRPr sz="1200">
                <a:solidFill>
                  <a:srgbClr val="111111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LogisticRegression - baseline</a:t>
            </a:r>
          </a:p>
          <a:p>
            <a:pPr>
              <a:defRPr sz="1200">
                <a:solidFill>
                  <a:srgbClr val="111111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RandomForestClassifier</a:t>
            </a:r>
          </a:p>
          <a:p>
            <a:pPr>
              <a:defRPr sz="1200">
                <a:solidFill>
                  <a:srgbClr val="111111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GradientBoostingClassifier</a:t>
            </a:r>
          </a:p>
          <a:p>
            <a:pPr>
              <a:defRPr sz="1200">
                <a:solidFill>
                  <a:srgbClr val="111111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выбор по ROC-AUC</a:t>
            </a:r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30F541EC-4D10-BCE3-D01E-D98707AC8E4C}"/>
              </a:ext>
            </a:extLst>
          </p:cNvPr>
          <p:cNvSpPr txBox="1"/>
          <p:nvPr/>
        </p:nvSpPr>
        <p:spPr>
          <a:xfrm>
            <a:off x="1145230" y="6399921"/>
            <a:ext cx="10195560" cy="1695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lc="http://schemas.openxmlformats.org/drawingml/2006/lockedCanvas" val="1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lIns="126" tIns="126" rIns="126" bIns="126" anchor="ctr">
            <a:spAutoFit/>
          </a:bodyPr>
          <a:lstStyle>
            <a:lvl1pPr algn="ctr">
              <a:defRPr sz="1100">
                <a:solidFill>
                  <a:srgbClr val="111111"/>
                </a:solidFill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Важно: случайное разбиение заменено на временное, чтобы модель не обучалась на будущем относительно теста.</a:t>
            </a:r>
          </a:p>
        </p:txBody>
      </p:sp>
    </p:spTree>
    <p:extLst>
      <p:ext uri="{BB962C8B-B14F-4D97-AF65-F5344CB8AC3E}">
        <p14:creationId xmlns:p14="http://schemas.microsoft.com/office/powerpoint/2010/main" val="31560121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0F1AD-1870-B281-F989-58C0486B3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B33DA14-9B83-09A4-ABCA-7BF0A31FEF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601F385-AEEA-0646-1A2E-D6D2DA55E6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6C379DD-F95C-4B15-EFD4-E7696DB93B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D80F383-8549-CFC7-F78C-8618318C16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B9FCDADA-1865-A648-DD11-15A09BFA02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D5630171-3977-F22F-101B-7238572535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DBCCDDA4-B02B-9D43-4322-F604327739F2}"/>
              </a:ext>
            </a:extLst>
          </p:cNvPr>
          <p:cNvSpPr txBox="1"/>
          <p:nvPr/>
        </p:nvSpPr>
        <p:spPr>
          <a:xfrm>
            <a:off x="1083067" y="1191514"/>
            <a:ext cx="10607042" cy="2597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lc="http://schemas.openxmlformats.org/drawingml/2006/lockedCanvas" val="1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lIns="253" tIns="253" rIns="253" bIns="253" anchor="ctr">
            <a:spAutoFit/>
          </a:bodyPr>
          <a:lstStyle>
            <a:lvl1pPr algn="ctr">
              <a:defRPr b="1">
                <a:solidFill>
                  <a:srgbClr val="111111"/>
                </a:solidFill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r>
              <a:t>Результат модели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B4D7FE2-4506-CBDD-E5A4-19E7B8AD2D26}"/>
              </a:ext>
            </a:extLst>
          </p:cNvPr>
          <p:cNvSpPr txBox="1"/>
          <p:nvPr/>
        </p:nvSpPr>
        <p:spPr>
          <a:xfrm>
            <a:off x="1311667" y="1609923"/>
            <a:ext cx="101498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lc="http://schemas.openxmlformats.org/drawingml/2006/lockedCanvas" val="1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lIns="253" tIns="253" rIns="253" bIns="253" anchor="ctr">
            <a:spAutoFit/>
          </a:bodyPr>
          <a:lstStyle>
            <a:lvl1pPr algn="ctr">
              <a:defRPr sz="900">
                <a:solidFill>
                  <a:srgbClr val="565656"/>
                </a:solidFill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r>
              <a:t>Честное качество после устранения утечки данных</a:t>
            </a:r>
          </a:p>
        </p:txBody>
      </p:sp>
      <p:pic>
        <p:nvPicPr>
          <p:cNvPr id="4" name="Image 1" descr="Image 1">
            <a:extLst>
              <a:ext uri="{FF2B5EF4-FFF2-40B4-BE49-F238E27FC236}">
                <a16:creationId xmlns:a16="http://schemas.microsoft.com/office/drawing/2014/main" id="{FD09CBCD-C0AC-2D7F-2648-50C260C4E3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7843" y="1860875"/>
            <a:ext cx="3443771" cy="3520441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0B96E440-1C49-A834-292A-A5C45A698731}"/>
              </a:ext>
            </a:extLst>
          </p:cNvPr>
          <p:cNvSpPr txBox="1"/>
          <p:nvPr/>
        </p:nvSpPr>
        <p:spPr>
          <a:xfrm>
            <a:off x="2088907" y="5677156"/>
            <a:ext cx="2743201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lc="http://schemas.openxmlformats.org/drawingml/2006/lockedCanvas" val="1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111111"/>
                </a:solidFill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ROC-AUC ≈ 0.65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1C96892-2263-AC0D-91AE-CF77FFC87213}"/>
              </a:ext>
            </a:extLst>
          </p:cNvPr>
          <p:cNvSpPr txBox="1"/>
          <p:nvPr/>
        </p:nvSpPr>
        <p:spPr>
          <a:xfrm>
            <a:off x="6660907" y="5761571"/>
            <a:ext cx="3931921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lc="http://schemas.openxmlformats.org/drawingml/2006/lockedCanvas" val="1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lIns="0" tIns="0" rIns="0" bIns="0" anchor="ctr">
            <a:spAutoFit/>
          </a:bodyPr>
          <a:lstStyle>
            <a:lvl1pPr algn="ctr">
              <a:defRPr sz="1000" b="1">
                <a:solidFill>
                  <a:srgbClr val="111111"/>
                </a:solidFill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Лучший алгоритм: LogisticRegression</a:t>
            </a:r>
          </a:p>
        </p:txBody>
      </p:sp>
      <p:pic>
        <p:nvPicPr>
          <p:cNvPr id="8" name="вставленный-фильм.png">
            <a:extLst>
              <a:ext uri="{FF2B5EF4-FFF2-40B4-BE49-F238E27FC236}">
                <a16:creationId xmlns:a16="http://schemas.microsoft.com/office/drawing/2014/main" id="{D5CFAABD-01F5-B69E-CDB6-BA23D289AC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862" y="2109636"/>
            <a:ext cx="5738263" cy="3203695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6425055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13843-1BA8-4A3F-E3E1-523AAB03F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0A4426F-A8AB-D4E9-2A85-33E7B2CB8A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1AB7231-158F-2E22-0E55-33D3220AE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ECC9FF1C-764E-3A79-1765-7FB469A0C4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2154CCB-65F5-D14A-D2F5-2F77916F90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E1449F60-4672-EF80-3BA9-02326C897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FEBBE58C-C8DB-2D4E-420F-6DC5A13E8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DAC43913-6F25-B227-CEB3-33CCF4777689}"/>
              </a:ext>
            </a:extLst>
          </p:cNvPr>
          <p:cNvSpPr txBox="1"/>
          <p:nvPr/>
        </p:nvSpPr>
        <p:spPr>
          <a:xfrm>
            <a:off x="1336883" y="1191953"/>
            <a:ext cx="10607042" cy="2775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lc="http://schemas.openxmlformats.org/drawingml/2006/lockedCanvas" val="1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lIns="253" tIns="253" rIns="253" bIns="253" anchor="ctr">
            <a:spAutoFit/>
          </a:bodyPr>
          <a:lstStyle>
            <a:lvl1pPr algn="ctr">
              <a:defRPr b="1">
                <a:solidFill>
                  <a:srgbClr val="111111"/>
                </a:solidFill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Интерпретация модели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5C9C62F-D982-4FEF-F538-0588CE947C5F}"/>
              </a:ext>
            </a:extLst>
          </p:cNvPr>
          <p:cNvSpPr txBox="1"/>
          <p:nvPr/>
        </p:nvSpPr>
        <p:spPr>
          <a:xfrm>
            <a:off x="7920563" y="2256354"/>
            <a:ext cx="3474721" cy="1695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lc="http://schemas.openxmlformats.org/drawingml/2006/lockedCanvas" val="1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lIns="126" tIns="126" rIns="126" bIns="126" anchor="ctr">
            <a:spAutoFit/>
          </a:bodyPr>
          <a:lstStyle>
            <a:lvl1pPr>
              <a:defRPr sz="1100" b="1">
                <a:solidFill>
                  <a:srgbClr val="111111"/>
                </a:solidFill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Главные группы признаков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5526EF5-EFC1-0947-7D96-E4A8ACA2F304}"/>
              </a:ext>
            </a:extLst>
          </p:cNvPr>
          <p:cNvSpPr txBox="1"/>
          <p:nvPr/>
        </p:nvSpPr>
        <p:spPr>
          <a:xfrm>
            <a:off x="7920563" y="2647444"/>
            <a:ext cx="3840481" cy="1920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lc="http://schemas.openxmlformats.org/drawingml/2006/lockedCanvas" val="1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lIns="507" tIns="507" rIns="507" bIns="507">
            <a:norm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>
              <a:defRPr sz="1100">
                <a:solidFill>
                  <a:srgbClr val="111111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география: страна / город</a:t>
            </a:r>
          </a:p>
          <a:p>
            <a:pPr>
              <a:defRPr sz="1100">
                <a:solidFill>
                  <a:srgbClr val="111111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источник трафика и кампания</a:t>
            </a:r>
          </a:p>
          <a:p>
            <a:pPr>
              <a:defRPr sz="1100">
                <a:solidFill>
                  <a:srgbClr val="111111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тип трафика: organic / paid</a:t>
            </a:r>
          </a:p>
          <a:p>
            <a:pPr>
              <a:defRPr sz="1100">
                <a:solidFill>
                  <a:srgbClr val="111111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браузер и категория устройства</a:t>
            </a:r>
          </a:p>
          <a:p>
            <a:pPr>
              <a:defRPr sz="1100">
                <a:solidFill>
                  <a:srgbClr val="111111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повторность и время визита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109BEBA-10D9-83CF-CDB2-B417C024C0D6}"/>
              </a:ext>
            </a:extLst>
          </p:cNvPr>
          <p:cNvSpPr txBox="1"/>
          <p:nvPr/>
        </p:nvSpPr>
        <p:spPr>
          <a:xfrm>
            <a:off x="7920563" y="5070603"/>
            <a:ext cx="3749041" cy="731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lc="http://schemas.openxmlformats.org/drawingml/2006/lockedCanvas" val="1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lIns="380" tIns="380" rIns="380" bIns="380">
            <a:normAutofit/>
          </a:bodyPr>
          <a:lstStyle>
            <a:lvl1pPr>
              <a:defRPr sz="1100">
                <a:solidFill>
                  <a:srgbClr val="111111"/>
                </a:solidFill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Вывод: модель использует не поведение после целевого действия, а признаки, доступные в момент визита. Это делает интерпретацию корректной.</a:t>
            </a:r>
          </a:p>
        </p:txBody>
      </p:sp>
      <p:pic>
        <p:nvPicPr>
          <p:cNvPr id="6" name="вставленный-фильм.png">
            <a:extLst>
              <a:ext uri="{FF2B5EF4-FFF2-40B4-BE49-F238E27FC236}">
                <a16:creationId xmlns:a16="http://schemas.microsoft.com/office/drawing/2014/main" id="{CCA3E369-5203-3A76-4D7A-FE3D11921E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651" y="2137984"/>
            <a:ext cx="7115699" cy="3242969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6031850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9E88D-23D8-E91E-1955-77FE8835E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A704A8F-3254-4A51-BF97-642BB2999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3F29CAF-39B9-55A9-F37D-5BAE7622BB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B8B15C66-75E5-7042-C144-08E432A2F8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547CA97-2F12-2755-5AEC-52C90A4549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E360CC8F-F8A0-C9B8-9BEB-CD4A04140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C5B8C2EC-23D6-7650-44A8-65A4FE272A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46BD54CF-956B-F7E1-331C-BFC0A6FA48A2}"/>
              </a:ext>
            </a:extLst>
          </p:cNvPr>
          <p:cNvSpPr txBox="1"/>
          <p:nvPr/>
        </p:nvSpPr>
        <p:spPr>
          <a:xfrm>
            <a:off x="718138" y="1118905"/>
            <a:ext cx="10607042" cy="2775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lc="http://schemas.openxmlformats.org/drawingml/2006/lockedCanvas" val="1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lIns="253" tIns="253" rIns="253" bIns="253" anchor="ctr">
            <a:spAutoFit/>
          </a:bodyPr>
          <a:lstStyle>
            <a:lvl1pPr algn="ctr">
              <a:defRPr b="1">
                <a:solidFill>
                  <a:srgbClr val="111111"/>
                </a:solidFill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API и воспроизводимость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BB935E5-B733-285A-1038-3388E0C315D6}"/>
              </a:ext>
            </a:extLst>
          </p:cNvPr>
          <p:cNvSpPr/>
          <p:nvPr/>
        </p:nvSpPr>
        <p:spPr>
          <a:xfrm>
            <a:off x="2272619" y="3488796"/>
            <a:ext cx="1463041" cy="0"/>
          </a:xfrm>
          <a:prstGeom prst="line">
            <a:avLst/>
          </a:prstGeom>
          <a:ln w="13970">
            <a:solidFill>
              <a:srgbClr val="565656"/>
            </a:solidFill>
            <a:tail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lIns="45719" rIns="45719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50489E3-863D-7097-CF1D-D0254AA65096}"/>
              </a:ext>
            </a:extLst>
          </p:cNvPr>
          <p:cNvSpPr/>
          <p:nvPr/>
        </p:nvSpPr>
        <p:spPr>
          <a:xfrm>
            <a:off x="5290139" y="3488796"/>
            <a:ext cx="1463041" cy="0"/>
          </a:xfrm>
          <a:prstGeom prst="line">
            <a:avLst/>
          </a:prstGeom>
          <a:ln w="13970">
            <a:solidFill>
              <a:srgbClr val="565656"/>
            </a:solidFill>
            <a:tail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lIns="45719" rIns="45719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FB3F6A5-242B-865A-4AAC-0909A70CD0E1}"/>
              </a:ext>
            </a:extLst>
          </p:cNvPr>
          <p:cNvSpPr/>
          <p:nvPr/>
        </p:nvSpPr>
        <p:spPr>
          <a:xfrm>
            <a:off x="8261939" y="3488796"/>
            <a:ext cx="1463041" cy="0"/>
          </a:xfrm>
          <a:prstGeom prst="line">
            <a:avLst/>
          </a:prstGeom>
          <a:ln w="13970">
            <a:solidFill>
              <a:srgbClr val="565656"/>
            </a:solidFill>
            <a:tail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lIns="45719" rIns="45719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81AE0AA-337C-BB55-59EE-9A2B326AFEA7}"/>
              </a:ext>
            </a:extLst>
          </p:cNvPr>
          <p:cNvSpPr/>
          <p:nvPr/>
        </p:nvSpPr>
        <p:spPr>
          <a:xfrm>
            <a:off x="626699" y="2574396"/>
            <a:ext cx="1874521" cy="19202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chemeClr val="accent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lIns="45719" rIns="45719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>
              <a:defRPr sz="1100"/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A83714D-4C95-52B5-2CAF-91EC12B3665D}"/>
              </a:ext>
            </a:extLst>
          </p:cNvPr>
          <p:cNvSpPr txBox="1"/>
          <p:nvPr/>
        </p:nvSpPr>
        <p:spPr>
          <a:xfrm>
            <a:off x="791290" y="2722930"/>
            <a:ext cx="1600201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lc="http://schemas.openxmlformats.org/drawingml/2006/lockedCanvas" val="1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lIns="0" tIns="0" rIns="0" bIns="0" anchor="ctr">
            <a:spAutoFit/>
          </a:bodyPr>
          <a:lstStyle>
            <a:lvl1pPr>
              <a:defRPr sz="1100" b="1">
                <a:solidFill>
                  <a:srgbClr val="111111"/>
                </a:solidFill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prepare_target.py</a:t>
            </a:r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42F210EC-A1E9-32BB-245F-A6BBC09D700E}"/>
              </a:ext>
            </a:extLst>
          </p:cNvPr>
          <p:cNvSpPr txBox="1"/>
          <p:nvPr/>
        </p:nvSpPr>
        <p:spPr>
          <a:xfrm>
            <a:off x="791290" y="3013307"/>
            <a:ext cx="1600201" cy="13898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lc="http://schemas.openxmlformats.org/drawingml/2006/lockedCanvas" val="1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lIns="380" tIns="380" rIns="380" bIns="380">
            <a:norm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>
              <a:defRPr sz="1100">
                <a:solidFill>
                  <a:srgbClr val="111111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создаёт session_target.csv</a:t>
            </a:r>
          </a:p>
          <a:p>
            <a:pPr>
              <a:defRPr sz="1100">
                <a:solidFill>
                  <a:srgbClr val="111111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из ga_hits.csv</a:t>
            </a:r>
          </a:p>
          <a:p>
            <a:pPr>
              <a:defRPr sz="1100">
                <a:solidFill>
                  <a:srgbClr val="111111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только target</a:t>
            </a:r>
          </a:p>
        </p:txBody>
      </p:sp>
      <p:sp>
        <p:nvSpPr>
          <p:cNvPr id="14" name="Shape 8">
            <a:extLst>
              <a:ext uri="{FF2B5EF4-FFF2-40B4-BE49-F238E27FC236}">
                <a16:creationId xmlns:a16="http://schemas.microsoft.com/office/drawing/2014/main" id="{4EDF8070-9DB2-0884-F85D-7A7ADA92F196}"/>
              </a:ext>
            </a:extLst>
          </p:cNvPr>
          <p:cNvSpPr/>
          <p:nvPr/>
        </p:nvSpPr>
        <p:spPr>
          <a:xfrm>
            <a:off x="3598499" y="2574396"/>
            <a:ext cx="1874521" cy="19202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chemeClr val="accent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lIns="45719" rIns="45719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>
              <a:defRPr sz="1100"/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7787AF99-C5F8-CA5E-6291-745983651284}"/>
              </a:ext>
            </a:extLst>
          </p:cNvPr>
          <p:cNvSpPr txBox="1"/>
          <p:nvPr/>
        </p:nvSpPr>
        <p:spPr>
          <a:xfrm>
            <a:off x="3763090" y="2722930"/>
            <a:ext cx="1600201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lc="http://schemas.openxmlformats.org/drawingml/2006/lockedCanvas" val="1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lIns="0" tIns="0" rIns="0" bIns="0" anchor="ctr">
            <a:spAutoFit/>
          </a:bodyPr>
          <a:lstStyle>
            <a:lvl1pPr>
              <a:defRPr sz="1100" b="1">
                <a:solidFill>
                  <a:srgbClr val="111111"/>
                </a:solidFill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train_model.py</a:t>
            </a: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304053FF-5979-82ED-6D00-E3CFF5770BD1}"/>
              </a:ext>
            </a:extLst>
          </p:cNvPr>
          <p:cNvSpPr txBox="1"/>
          <p:nvPr/>
        </p:nvSpPr>
        <p:spPr>
          <a:xfrm>
            <a:off x="3763090" y="3013307"/>
            <a:ext cx="1600201" cy="13898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lc="http://schemas.openxmlformats.org/drawingml/2006/lockedCanvas" val="1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lIns="380" tIns="380" rIns="380" bIns="380">
            <a:norm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>
              <a:defRPr sz="1100">
                <a:solidFill>
                  <a:srgbClr val="111111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обучает модели</a:t>
            </a:r>
          </a:p>
          <a:p>
            <a:pPr>
              <a:defRPr sz="1100">
                <a:solidFill>
                  <a:srgbClr val="111111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сохраняет joblib</a:t>
            </a:r>
          </a:p>
          <a:p>
            <a:pPr>
              <a:defRPr sz="1100">
                <a:solidFill>
                  <a:srgbClr val="111111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сохраняет метаданные</a:t>
            </a:r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F5F573F3-6E3E-4D81-E081-C8F24AC3D8D8}"/>
              </a:ext>
            </a:extLst>
          </p:cNvPr>
          <p:cNvSpPr/>
          <p:nvPr/>
        </p:nvSpPr>
        <p:spPr>
          <a:xfrm>
            <a:off x="6570299" y="2574396"/>
            <a:ext cx="1874521" cy="19202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chemeClr val="accent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lIns="45719" rIns="45719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>
              <a:defRPr sz="1100"/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AB320A8D-3F70-DD60-CE65-578E87002E7D}"/>
              </a:ext>
            </a:extLst>
          </p:cNvPr>
          <p:cNvSpPr txBox="1"/>
          <p:nvPr/>
        </p:nvSpPr>
        <p:spPr>
          <a:xfrm>
            <a:off x="6734891" y="2722930"/>
            <a:ext cx="1600201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lc="http://schemas.openxmlformats.org/drawingml/2006/lockedCanvas" val="1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lIns="0" tIns="0" rIns="0" bIns="0" anchor="ctr">
            <a:spAutoFit/>
          </a:bodyPr>
          <a:lstStyle>
            <a:lvl1pPr>
              <a:defRPr sz="1100" b="1">
                <a:solidFill>
                  <a:srgbClr val="111111"/>
                </a:solidFill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app.py</a:t>
            </a:r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BE17CDA4-E9EC-C41B-2B8A-AB87C2A62AD2}"/>
              </a:ext>
            </a:extLst>
          </p:cNvPr>
          <p:cNvSpPr txBox="1"/>
          <p:nvPr/>
        </p:nvSpPr>
        <p:spPr>
          <a:xfrm>
            <a:off x="6734891" y="3013307"/>
            <a:ext cx="1600201" cy="13898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lc="http://schemas.openxmlformats.org/drawingml/2006/lockedCanvas" val="1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lIns="380" tIns="380" rIns="380" bIns="380">
            <a:norm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>
              <a:defRPr sz="1100">
                <a:solidFill>
                  <a:srgbClr val="111111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Flask API</a:t>
            </a:r>
          </a:p>
          <a:p>
            <a:pPr>
              <a:defRPr sz="1100">
                <a:solidFill>
                  <a:srgbClr val="111111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/health</a:t>
            </a:r>
          </a:p>
          <a:p>
            <a:pPr>
              <a:defRPr sz="1100">
                <a:solidFill>
                  <a:srgbClr val="111111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/predict</a:t>
            </a:r>
          </a:p>
        </p:txBody>
      </p:sp>
      <p:sp>
        <p:nvSpPr>
          <p:cNvPr id="21" name="Shape 16">
            <a:extLst>
              <a:ext uri="{FF2B5EF4-FFF2-40B4-BE49-F238E27FC236}">
                <a16:creationId xmlns:a16="http://schemas.microsoft.com/office/drawing/2014/main" id="{E08FB259-8340-D7E6-4C50-611477805F86}"/>
              </a:ext>
            </a:extLst>
          </p:cNvPr>
          <p:cNvSpPr/>
          <p:nvPr/>
        </p:nvSpPr>
        <p:spPr>
          <a:xfrm>
            <a:off x="9542099" y="2574396"/>
            <a:ext cx="1874521" cy="19202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chemeClr val="accent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lIns="45719" rIns="45719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>
              <a:defRPr sz="1100"/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A71865DC-93BB-A64C-002E-45525DDB926E}"/>
              </a:ext>
            </a:extLst>
          </p:cNvPr>
          <p:cNvSpPr txBox="1"/>
          <p:nvPr/>
        </p:nvSpPr>
        <p:spPr>
          <a:xfrm>
            <a:off x="9706691" y="2722930"/>
            <a:ext cx="1600201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lc="http://schemas.openxmlformats.org/drawingml/2006/lockedCanvas" val="1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lIns="0" tIns="0" rIns="0" bIns="0" anchor="ctr">
            <a:spAutoFit/>
          </a:bodyPr>
          <a:lstStyle>
            <a:lvl1pPr>
              <a:defRPr sz="1100" b="1">
                <a:solidFill>
                  <a:srgbClr val="111111"/>
                </a:solidFill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JSON - ответ</a:t>
            </a: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59416292-45DB-FD30-C8A8-0696E941A5DD}"/>
              </a:ext>
            </a:extLst>
          </p:cNvPr>
          <p:cNvSpPr txBox="1"/>
          <p:nvPr/>
        </p:nvSpPr>
        <p:spPr>
          <a:xfrm>
            <a:off x="9706691" y="3013307"/>
            <a:ext cx="1600201" cy="13898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lc="http://schemas.openxmlformats.org/drawingml/2006/lockedCanvas" val="1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lIns="380" tIns="380" rIns="380" bIns="380">
            <a:norm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>
              <a:defRPr sz="1100">
                <a:solidFill>
                  <a:srgbClr val="111111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predicted_class</a:t>
            </a:r>
          </a:p>
          <a:p>
            <a:pPr>
              <a:defRPr sz="1100">
                <a:solidFill>
                  <a:srgbClr val="111111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conversion_probability</a:t>
            </a:r>
          </a:p>
          <a:p>
            <a:pPr>
              <a:defRPr sz="1100">
                <a:solidFill>
                  <a:srgbClr val="111111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время ответа &lt; 3 сек.</a:t>
            </a:r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0AAD5242-EDE8-A400-81E9-E8F45B656A07}"/>
              </a:ext>
            </a:extLst>
          </p:cNvPr>
          <p:cNvSpPr txBox="1"/>
          <p:nvPr/>
        </p:nvSpPr>
        <p:spPr>
          <a:xfrm>
            <a:off x="901018" y="5849922"/>
            <a:ext cx="10241282" cy="1697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lc="http://schemas.openxmlformats.org/drawingml/2006/lockedCanvas" val="1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lIns="253" tIns="253" rIns="253" bIns="253" anchor="ctr">
            <a:spAutoFit/>
          </a:bodyPr>
          <a:lstStyle>
            <a:lvl1pPr algn="ctr">
              <a:defRPr sz="1100">
                <a:solidFill>
                  <a:srgbClr val="111111"/>
                </a:solidFill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Финальный артефакт содержит pipeline, список признаков и правила группировки категорий - поэтому API готовит входные данные так же, как при обучении.</a:t>
            </a:r>
          </a:p>
        </p:txBody>
      </p:sp>
    </p:spTree>
    <p:extLst>
      <p:ext uri="{BB962C8B-B14F-4D97-AF65-F5344CB8AC3E}">
        <p14:creationId xmlns:p14="http://schemas.microsoft.com/office/powerpoint/2010/main" val="21595101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F080F-630D-98D0-A318-3BA2D2E70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2F25341-DBEF-E1CF-6510-0C4333014B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126466A-3B10-936D-4849-DEE0B4C1A6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65A07F11-7E43-1936-3039-2F97641DED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DF3951C-06C1-BA6E-F967-CC31002737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F2777AE1-1CD1-57A8-39AA-30F8932A6C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E4FC9A1B-083E-4457-1371-97E446A34B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77114551-8785-4D00-E00A-ECDFF892E7C0}"/>
              </a:ext>
            </a:extLst>
          </p:cNvPr>
          <p:cNvSpPr txBox="1"/>
          <p:nvPr/>
        </p:nvSpPr>
        <p:spPr>
          <a:xfrm>
            <a:off x="762742" y="1903065"/>
            <a:ext cx="10607042" cy="3082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lc="http://schemas.openxmlformats.org/drawingml/2006/lockedCanvas" val="1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lIns="253" tIns="253" rIns="253" bIns="253" anchor="ctr">
            <a:spAutoFit/>
          </a:bodyPr>
          <a:lstStyle>
            <a:lvl1pPr algn="ctr">
              <a:defRPr b="1">
                <a:solidFill>
                  <a:srgbClr val="111111"/>
                </a:solidFill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Итоги и рекомендации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AF62002-20D3-4B3F-6F8C-448625C77D1D}"/>
              </a:ext>
            </a:extLst>
          </p:cNvPr>
          <p:cNvSpPr txBox="1"/>
          <p:nvPr/>
        </p:nvSpPr>
        <p:spPr>
          <a:xfrm>
            <a:off x="899903" y="2975161"/>
            <a:ext cx="2377440" cy="184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lc="http://schemas.openxmlformats.org/drawingml/2006/lockedCanvas" val="1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lIns="126" tIns="126" rIns="126" bIns="126" anchor="ctr">
            <a:spAutoFit/>
          </a:bodyPr>
          <a:lstStyle>
            <a:lvl1pPr>
              <a:defRPr sz="1100" b="1">
                <a:solidFill>
                  <a:srgbClr val="111111"/>
                </a:solidFill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r>
              <a:rPr sz="1200">
                <a:latin typeface="Times New Roman" panose="02020603050405020304" pitchFamily="18" charset="0"/>
                <a:cs typeface="Times New Roman" panose="02020603050405020304" pitchFamily="18" charset="0"/>
              </a:rPr>
              <a:t>Итог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8542B4F-A94D-16C7-AB26-1C36C74719C0}"/>
              </a:ext>
            </a:extLst>
          </p:cNvPr>
          <p:cNvSpPr txBox="1"/>
          <p:nvPr/>
        </p:nvSpPr>
        <p:spPr>
          <a:xfrm>
            <a:off x="899903" y="3373945"/>
            <a:ext cx="3017521" cy="2103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lc="http://schemas.openxmlformats.org/drawingml/2006/lockedCanvas" val="1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lIns="507" tIns="507" rIns="507" bIns="507">
            <a:norm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>
              <a:defRPr sz="1100">
                <a:solidFill>
                  <a:srgbClr val="111111"/>
                </a:solidFill>
              </a:defRPr>
            </a:pPr>
            <a:r>
              <a:rPr sz="1200">
                <a:latin typeface="Times New Roman" panose="02020603050405020304" pitchFamily="18" charset="0"/>
                <a:cs typeface="Times New Roman" panose="02020603050405020304" pitchFamily="18" charset="0"/>
              </a:rPr>
              <a:t>• устранена утечка данных</a:t>
            </a:r>
          </a:p>
          <a:p>
            <a:pPr>
              <a:defRPr sz="1100">
                <a:solidFill>
                  <a:srgbClr val="111111"/>
                </a:solidFill>
              </a:defRPr>
            </a:pPr>
            <a:r>
              <a:rPr sz="1200">
                <a:latin typeface="Times New Roman" panose="02020603050405020304" pitchFamily="18" charset="0"/>
                <a:cs typeface="Times New Roman" panose="02020603050405020304" pitchFamily="18" charset="0"/>
              </a:rPr>
              <a:t>• ga_hits используется только для target</a:t>
            </a:r>
          </a:p>
          <a:p>
            <a:pPr>
              <a:defRPr sz="1100">
                <a:solidFill>
                  <a:srgbClr val="111111"/>
                </a:solidFill>
              </a:defRPr>
            </a:pPr>
            <a:r>
              <a:rPr sz="1200">
                <a:latin typeface="Times New Roman" panose="02020603050405020304" pitchFamily="18" charset="0"/>
                <a:cs typeface="Times New Roman" panose="02020603050405020304" pitchFamily="18" charset="0"/>
              </a:rPr>
              <a:t>• выполнен EDA по источникам, устройствам, географии и времени</a:t>
            </a:r>
          </a:p>
          <a:p>
            <a:pPr>
              <a:defRPr sz="1100">
                <a:solidFill>
                  <a:srgbClr val="111111"/>
                </a:solidFill>
              </a:defRPr>
            </a:pPr>
            <a:r>
              <a:rPr sz="1200">
                <a:latin typeface="Times New Roman" panose="02020603050405020304" pitchFamily="18" charset="0"/>
                <a:cs typeface="Times New Roman" panose="02020603050405020304" pitchFamily="18" charset="0"/>
              </a:rPr>
              <a:t>• построена честная ML-модель</a:t>
            </a:r>
          </a:p>
          <a:p>
            <a:pPr>
              <a:defRPr sz="1100">
                <a:solidFill>
                  <a:srgbClr val="111111"/>
                </a:solidFill>
              </a:defRPr>
            </a:pPr>
            <a:r>
              <a:rPr sz="1200">
                <a:latin typeface="Times New Roman" panose="02020603050405020304" pitchFamily="18" charset="0"/>
                <a:cs typeface="Times New Roman" panose="02020603050405020304" pitchFamily="18" charset="0"/>
              </a:rPr>
              <a:t>• ROC-AUC ≈ 0.65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33A1F03-8407-2EA4-3AD1-BCD614A14F0B}"/>
              </a:ext>
            </a:extLst>
          </p:cNvPr>
          <p:cNvSpPr txBox="1"/>
          <p:nvPr/>
        </p:nvSpPr>
        <p:spPr>
          <a:xfrm>
            <a:off x="4648943" y="2975161"/>
            <a:ext cx="2743201" cy="184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lc="http://schemas.openxmlformats.org/drawingml/2006/lockedCanvas" val="1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lIns="126" tIns="126" rIns="126" bIns="126" anchor="ctr">
            <a:spAutoFit/>
          </a:bodyPr>
          <a:lstStyle>
            <a:lvl1pPr>
              <a:defRPr sz="1100" b="1">
                <a:solidFill>
                  <a:srgbClr val="111111"/>
                </a:solidFill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r>
              <a:rPr sz="1200">
                <a:latin typeface="Times New Roman" panose="02020603050405020304" pitchFamily="18" charset="0"/>
                <a:cs typeface="Times New Roman" panose="02020603050405020304" pitchFamily="18" charset="0"/>
              </a:rPr>
              <a:t>Рекомендации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95F709A-4F4C-6BA4-4379-480A3853D92A}"/>
              </a:ext>
            </a:extLst>
          </p:cNvPr>
          <p:cNvSpPr txBox="1"/>
          <p:nvPr/>
        </p:nvSpPr>
        <p:spPr>
          <a:xfrm>
            <a:off x="4648943" y="3373945"/>
            <a:ext cx="2926081" cy="2103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lc="http://schemas.openxmlformats.org/drawingml/2006/lockedCanvas" val="1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lIns="507" tIns="507" rIns="507" bIns="507">
            <a:norm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>
              <a:defRPr sz="1100">
                <a:solidFill>
                  <a:srgbClr val="111111"/>
                </a:solidFill>
              </a:defRPr>
            </a:pPr>
            <a:r>
              <a:rPr sz="1200">
                <a:latin typeface="Times New Roman" panose="02020603050405020304" pitchFamily="18" charset="0"/>
                <a:cs typeface="Times New Roman" panose="02020603050405020304" pitchFamily="18" charset="0"/>
              </a:rPr>
              <a:t>• оценивать каналы трафика по конверсии</a:t>
            </a:r>
          </a:p>
          <a:p>
            <a:pPr>
              <a:defRPr sz="1100">
                <a:solidFill>
                  <a:srgbClr val="111111"/>
                </a:solidFill>
              </a:defRPr>
            </a:pPr>
            <a:r>
              <a:rPr sz="1200">
                <a:latin typeface="Times New Roman" panose="02020603050405020304" pitchFamily="18" charset="0"/>
                <a:cs typeface="Times New Roman" panose="02020603050405020304" pitchFamily="18" charset="0"/>
              </a:rPr>
              <a:t>• анализировать различия по устройствам</a:t>
            </a:r>
          </a:p>
          <a:p>
            <a:pPr>
              <a:defRPr sz="1100">
                <a:solidFill>
                  <a:srgbClr val="111111"/>
                </a:solidFill>
              </a:defRPr>
            </a:pPr>
            <a:r>
              <a:rPr sz="1200">
                <a:latin typeface="Times New Roman" panose="02020603050405020304" pitchFamily="18" charset="0"/>
                <a:cs typeface="Times New Roman" panose="02020603050405020304" pitchFamily="18" charset="0"/>
              </a:rPr>
              <a:t>• улучшать UX в слабых сегментах</a:t>
            </a:r>
          </a:p>
          <a:p>
            <a:pPr>
              <a:defRPr sz="1100">
                <a:solidFill>
                  <a:srgbClr val="111111"/>
                </a:solidFill>
              </a:defRPr>
            </a:pPr>
            <a:r>
              <a:rPr sz="1200">
                <a:latin typeface="Times New Roman" panose="02020603050405020304" pitchFamily="18" charset="0"/>
                <a:cs typeface="Times New Roman" panose="02020603050405020304" pitchFamily="18" charset="0"/>
              </a:rPr>
              <a:t>• использовать модель для приоритизации визитов</a:t>
            </a: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94B68984-47FB-CBCA-FB47-131A15B2A60D}"/>
              </a:ext>
            </a:extLst>
          </p:cNvPr>
          <p:cNvSpPr txBox="1"/>
          <p:nvPr/>
        </p:nvSpPr>
        <p:spPr>
          <a:xfrm>
            <a:off x="8443703" y="2975161"/>
            <a:ext cx="2743200" cy="184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lc="http://schemas.openxmlformats.org/drawingml/2006/lockedCanvas" val="1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lIns="126" tIns="126" rIns="126" bIns="126" anchor="ctr">
            <a:spAutoFit/>
          </a:bodyPr>
          <a:lstStyle>
            <a:lvl1pPr>
              <a:defRPr sz="1100" b="1">
                <a:solidFill>
                  <a:srgbClr val="111111"/>
                </a:solidFill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r>
              <a:rPr sz="1200">
                <a:latin typeface="Times New Roman" panose="02020603050405020304" pitchFamily="18" charset="0"/>
                <a:cs typeface="Times New Roman" panose="02020603050405020304" pitchFamily="18" charset="0"/>
              </a:rPr>
              <a:t>Дальнейшее развитие</a:t>
            </a:r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448A5086-ACD7-2F6D-84C0-71CA7925CBFD}"/>
              </a:ext>
            </a:extLst>
          </p:cNvPr>
          <p:cNvSpPr txBox="1"/>
          <p:nvPr/>
        </p:nvSpPr>
        <p:spPr>
          <a:xfrm>
            <a:off x="8443703" y="3373945"/>
            <a:ext cx="2926081" cy="2103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lc="http://schemas.openxmlformats.org/drawingml/2006/lockedCanvas" val="1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lIns="507" tIns="507" rIns="507" bIns="507">
            <a:norm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>
              <a:defRPr sz="1100">
                <a:solidFill>
                  <a:srgbClr val="111111"/>
                </a:solidFill>
              </a:defRPr>
            </a:pPr>
            <a:r>
              <a:rPr sz="1200">
                <a:latin typeface="Times New Roman" panose="02020603050405020304" pitchFamily="18" charset="0"/>
                <a:cs typeface="Times New Roman" panose="02020603050405020304" pitchFamily="18" charset="0"/>
              </a:rPr>
              <a:t>• расширить безопасный feature engineering</a:t>
            </a:r>
          </a:p>
          <a:p>
            <a:pPr>
              <a:defRPr sz="1100">
                <a:solidFill>
                  <a:srgbClr val="111111"/>
                </a:solidFill>
              </a:defRPr>
            </a:pPr>
            <a:r>
              <a:rPr sz="1200">
                <a:latin typeface="Times New Roman" panose="02020603050405020304" pitchFamily="18" charset="0"/>
                <a:cs typeface="Times New Roman" panose="02020603050405020304" pitchFamily="18" charset="0"/>
              </a:rPr>
              <a:t>• проверить устойчивую time-based CV</a:t>
            </a:r>
          </a:p>
          <a:p>
            <a:pPr>
              <a:defRPr sz="1100">
                <a:solidFill>
                  <a:srgbClr val="111111"/>
                </a:solidFill>
              </a:defRPr>
            </a:pPr>
            <a:r>
              <a:rPr sz="1200">
                <a:latin typeface="Times New Roman" panose="02020603050405020304" pitchFamily="18" charset="0"/>
                <a:cs typeface="Times New Roman" panose="02020603050405020304" pitchFamily="18" charset="0"/>
              </a:rPr>
              <a:t>• подобрать гиперпараметры</a:t>
            </a:r>
          </a:p>
          <a:p>
            <a:pPr>
              <a:defRPr sz="1100">
                <a:solidFill>
                  <a:srgbClr val="111111"/>
                </a:solidFill>
              </a:defRPr>
            </a:pPr>
            <a:r>
              <a:rPr sz="1200">
                <a:latin typeface="Times New Roman" panose="02020603050405020304" pitchFamily="18" charset="0"/>
                <a:cs typeface="Times New Roman" panose="02020603050405020304" pitchFamily="18" charset="0"/>
              </a:rPr>
              <a:t>• добавить мониторинг качества API</a:t>
            </a:r>
          </a:p>
        </p:txBody>
      </p:sp>
    </p:spTree>
    <p:extLst>
      <p:ext uri="{BB962C8B-B14F-4D97-AF65-F5344CB8AC3E}">
        <p14:creationId xmlns:p14="http://schemas.microsoft.com/office/powerpoint/2010/main" val="91837830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551</Words>
  <Application>Microsoft Macintosh PowerPoint</Application>
  <PresentationFormat>Широкоэкранный</PresentationFormat>
  <Paragraphs>111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Times New Roman</vt:lpstr>
      <vt:lpstr>Tisa Offc Serif Pro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d87146</dc:creator>
  <cp:lastModifiedBy>d87146</cp:lastModifiedBy>
  <cp:revision>1</cp:revision>
  <dcterms:created xsi:type="dcterms:W3CDTF">2026-06-28T15:27:50Z</dcterms:created>
  <dcterms:modified xsi:type="dcterms:W3CDTF">2026-06-28T15:45:03Z</dcterms:modified>
</cp:coreProperties>
</file>