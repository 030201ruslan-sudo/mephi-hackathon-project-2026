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4F018-71B9-40AD-AB6C-2F2132C34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D9AC18-7851-4505-A69F-F940695BA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CFB612-BE04-4052-B2C0-C23A183E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824E11-96C1-4747-928D-2A2F8E44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04CB8-E286-4167-8A80-DD3B3389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05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62991-2A3F-46AB-BCD4-C9FCC87D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EDAD3-C448-441F-A30B-C5CD0CC3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9E9A4B-1CE3-4155-940F-674BE562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C10936-DBD0-45F2-8404-461D4011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B852C-D63C-48DD-91BC-FDE52564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91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786E3E-C996-499C-B138-5721943B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09342C-ED05-4246-8DF3-C98CDCCAC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E6AA36-2B94-40F9-BB6C-A671E5AD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1C8D1C-5253-4613-A5A2-4D87ABB4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BFF0D6-9A16-472D-9DAE-38431B5A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87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CF28D-31FE-43F7-AD4F-735A2EFD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7BAB3-78AB-4924-9A6B-6A8434877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7CA7ED-801B-497C-853D-95B0EB202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A5F5F0-BD02-40B3-B00E-D9BD3340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15BF44-E7FB-445A-86EB-C4F0EC2C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B5CD3-F447-474F-84EB-0B534535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73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9E73F-E141-413F-BA27-10469935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30C8BB-64FC-4924-AF56-235BBC4E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AF32EB-CB9C-4E5A-9419-C28C5F665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B4AD1E3-2022-4AFE-A9A1-D9C193B49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43486C-1870-4C6F-B311-0836FB5C5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733929-553B-42CC-8AFE-D7E69C88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FF11B2-BB57-4463-AB2A-67E4185C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6AB1CD-951A-41C4-8B09-1202175C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2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33862-E509-44AC-A9EC-5E5AB6AE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38E863-9346-4C24-B1AF-CEC9C0D6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1EF60-F5C2-4B76-8001-E42C833E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DA1F73-D764-41B7-B381-65B04436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50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16DC20-C394-4B18-B00B-BE11980C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AD29C6A-5F18-4888-99D4-F01AEDE8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9236ED-099D-4B6E-8B88-7C74B519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91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7DE02-FA93-4886-BB9D-95FF3649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2FFFDA-7F15-4AD9-8BA2-23680F1E8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2D68A4-F126-4986-9FC9-3A086F08D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2E3B2E-B9CF-48C0-9DA1-EF550508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63171E-7F4D-4AD8-B9B0-16802AE8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AF81A8-972F-4022-B4A3-F067F454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60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EC585-734D-4268-9C44-85CD3929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ACCA3E-5006-422D-8E67-CE281229C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424246-5721-4599-9C78-1DD620D65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249353-80E1-486D-9443-FA70554E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1AF92D-FDD0-435B-91F2-B74364D4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35A77-B80F-40FC-A33B-F1A84EB0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68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801D9-5C48-4F63-BDD5-49C65DBF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334C1A-FE64-4DF4-999D-712C2CCB0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46C476-1EDC-4815-807D-44CF7FB1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6F94B5-36C1-4B33-80B9-3AE6E654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9EAE99-94E4-415B-9329-9D996312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97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387968-CE4F-4448-A365-9A33F62C9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D57891-D26C-4F60-A2BD-51CC821E0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D5355F-92E3-4D87-BE84-15C3AEB8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D65022-BE3C-4B35-B4C4-85C41F57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FD0BF5-79E9-4AEA-BEE5-C8B168EC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6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D86F-59C7-474C-B72B-D88A291ED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F335CE-8F97-4E10-B4A0-0238D26F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5E7F95-A73B-42B4-95D1-7F37508B2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C2CE1-4D0D-46E7-BF22-85E7FC7DEB8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41E39B-C165-4970-B7DD-02B9E477B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06DD27-F0F0-4670-8E3D-12A425D18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3AB40-5419-44CF-B10A-D5308C65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4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44D973B-5480-495D-BB7E-747109004A08}"/>
              </a:ext>
            </a:extLst>
          </p:cNvPr>
          <p:cNvSpPr/>
          <p:nvPr/>
        </p:nvSpPr>
        <p:spPr>
          <a:xfrm>
            <a:off x="621791" y="1481328"/>
            <a:ext cx="100580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сайта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«СберАвтоподписка»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40A114-2219-47E8-8BE8-42BE57EC1883}"/>
              </a:ext>
            </a:extLst>
          </p:cNvPr>
          <p:cNvSpPr/>
          <p:nvPr/>
        </p:nvSpPr>
        <p:spPr>
          <a:xfrm>
            <a:off x="7520807" y="36301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прогнозирования вероятности целевого действия пользователя на сайте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2953B1-2B6E-4300-8927-4209B4571939}"/>
              </a:ext>
            </a:extLst>
          </p:cNvPr>
          <p:cNvSpPr/>
          <p:nvPr/>
        </p:nvSpPr>
        <p:spPr>
          <a:xfrm>
            <a:off x="7520807" y="4709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результат: ROC-AUC = 0.8402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58DAEFE7-B9F2-4307-91C7-284CF2338D34}"/>
              </a:ext>
            </a:extLst>
          </p:cNvPr>
          <p:cNvSpPr txBox="1">
            <a:spLocks/>
          </p:cNvSpPr>
          <p:nvPr/>
        </p:nvSpPr>
        <p:spPr>
          <a:xfrm>
            <a:off x="11391900" y="6565900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1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72614B8-4A6E-4F01-B031-4EE2F3D3FD38}"/>
              </a:ext>
            </a:extLst>
          </p:cNvPr>
          <p:cNvSpPr/>
          <p:nvPr/>
        </p:nvSpPr>
        <p:spPr>
          <a:xfrm>
            <a:off x="4340737" y="3566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Данные и подготовка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822D0D5-9235-4FA3-8A04-14D122923CE3}"/>
              </a:ext>
            </a:extLst>
          </p:cNvPr>
          <p:cNvSpPr/>
          <p:nvPr/>
        </p:nvSpPr>
        <p:spPr>
          <a:xfrm>
            <a:off x="73152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ga_sessions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959C1F-7E4A-4BAF-9199-88129B6EE88F}"/>
              </a:ext>
            </a:extLst>
          </p:cNvPr>
          <p:cNvSpPr/>
          <p:nvPr/>
        </p:nvSpPr>
        <p:spPr>
          <a:xfrm>
            <a:off x="73152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 строка = один визит на сайт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0CFB3B-206A-45D6-B627-BA05D60A7534}"/>
              </a:ext>
            </a:extLst>
          </p:cNvPr>
          <p:cNvSpPr/>
          <p:nvPr/>
        </p:nvSpPr>
        <p:spPr>
          <a:xfrm>
            <a:off x="987552" y="224028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utm_source / utm_medium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AD097B5-7A40-48C0-B8AD-CE2A8852349E}"/>
              </a:ext>
            </a:extLst>
          </p:cNvPr>
          <p:cNvSpPr/>
          <p:nvPr/>
        </p:nvSpPr>
        <p:spPr>
          <a:xfrm>
            <a:off x="987552" y="265176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device_*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13E0761-DED5-4894-B13D-8EAB7750CB82}"/>
              </a:ext>
            </a:extLst>
          </p:cNvPr>
          <p:cNvSpPr/>
          <p:nvPr/>
        </p:nvSpPr>
        <p:spPr>
          <a:xfrm>
            <a:off x="987552" y="306324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geo_*</a:t>
            </a: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77FFAD2-ED33-4434-8635-03E14B11506B}"/>
              </a:ext>
            </a:extLst>
          </p:cNvPr>
          <p:cNvSpPr/>
          <p:nvPr/>
        </p:nvSpPr>
        <p:spPr>
          <a:xfrm>
            <a:off x="987552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visit_number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7857D51-BB4C-4822-82E4-FFD277AE1C64}"/>
              </a:ext>
            </a:extLst>
          </p:cNvPr>
          <p:cNvSpPr/>
          <p:nvPr/>
        </p:nvSpPr>
        <p:spPr>
          <a:xfrm>
            <a:off x="4503420" y="1408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ga_hits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586AF8D5-E31B-4D9D-8BC3-06981C19D5EC}"/>
              </a:ext>
            </a:extLst>
          </p:cNvPr>
          <p:cNvSpPr/>
          <p:nvPr/>
        </p:nvSpPr>
        <p:spPr>
          <a:xfrm>
            <a:off x="4617720" y="1783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 строка = одно событие в визите</a:t>
            </a: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4A2AA402-DB0B-4EAE-8CA5-46BD0B0B9685}"/>
              </a:ext>
            </a:extLst>
          </p:cNvPr>
          <p:cNvSpPr/>
          <p:nvPr/>
        </p:nvSpPr>
        <p:spPr>
          <a:xfrm>
            <a:off x="4873752" y="224028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event_action</a:t>
            </a: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69D249B1-B52E-4E8D-B9CF-0FC581F7DBE9}"/>
              </a:ext>
            </a:extLst>
          </p:cNvPr>
          <p:cNvSpPr/>
          <p:nvPr/>
        </p:nvSpPr>
        <p:spPr>
          <a:xfrm>
            <a:off x="4873752" y="2651760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hit_page_path</a:t>
            </a:r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CF87CEC6-1373-42B7-A954-F9DB1366C8F9}"/>
              </a:ext>
            </a:extLst>
          </p:cNvPr>
          <p:cNvSpPr/>
          <p:nvPr/>
        </p:nvSpPr>
        <p:spPr>
          <a:xfrm>
            <a:off x="4873752" y="3081528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hit_number</a:t>
            </a:r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A06E57AA-6B16-46FB-BBA1-DFA4E2B564CF}"/>
              </a:ext>
            </a:extLst>
          </p:cNvPr>
          <p:cNvSpPr/>
          <p:nvPr/>
        </p:nvSpPr>
        <p:spPr>
          <a:xfrm>
            <a:off x="4873752" y="347472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 по session_id</a:t>
            </a: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80174D9B-F509-403A-9FF9-3CFA88E334DD}"/>
              </a:ext>
            </a:extLst>
          </p:cNvPr>
          <p:cNvSpPr/>
          <p:nvPr/>
        </p:nvSpPr>
        <p:spPr>
          <a:xfrm>
            <a:off x="8275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таблица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0ADDAD43-C69E-4ADA-BA48-F866AD10F702}"/>
              </a:ext>
            </a:extLst>
          </p:cNvPr>
          <p:cNvSpPr/>
          <p:nvPr/>
        </p:nvSpPr>
        <p:spPr>
          <a:xfrm>
            <a:off x="8522208" y="2039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session_id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has_target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5DFF43FD-7C74-448F-A916-366930068D7C}"/>
              </a:ext>
            </a:extLst>
          </p:cNvPr>
          <p:cNvSpPr/>
          <p:nvPr/>
        </p:nvSpPr>
        <p:spPr>
          <a:xfrm>
            <a:off x="8522208" y="253288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признаки:</a:t>
            </a: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3E2A1E1D-4BB5-456B-A3CF-26EDDCDDA47E}"/>
              </a:ext>
            </a:extLst>
          </p:cNvPr>
          <p:cNvSpPr/>
          <p:nvPr/>
        </p:nvSpPr>
        <p:spPr>
          <a:xfrm>
            <a:off x="8778240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hits_count</a:t>
            </a:r>
          </a:p>
        </p:txBody>
      </p:sp>
      <p:sp>
        <p:nvSpPr>
          <p:cNvPr id="21" name="Text 31">
            <a:extLst>
              <a:ext uri="{FF2B5EF4-FFF2-40B4-BE49-F238E27FC236}">
                <a16:creationId xmlns:a16="http://schemas.microsoft.com/office/drawing/2014/main" id="{E68315E3-88A0-4935-94D4-47ACCE465D24}"/>
              </a:ext>
            </a:extLst>
          </p:cNvPr>
          <p:cNvSpPr/>
          <p:nvPr/>
        </p:nvSpPr>
        <p:spPr>
          <a:xfrm>
            <a:off x="877824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pages_count</a:t>
            </a:r>
          </a:p>
        </p:txBody>
      </p:sp>
      <p:sp>
        <p:nvSpPr>
          <p:cNvPr id="22" name="Text 33">
            <a:extLst>
              <a:ext uri="{FF2B5EF4-FFF2-40B4-BE49-F238E27FC236}">
                <a16:creationId xmlns:a16="http://schemas.microsoft.com/office/drawing/2014/main" id="{8D8D3F5A-781B-4E34-92AD-8D9E0F5DA1B9}"/>
              </a:ext>
            </a:extLst>
          </p:cNvPr>
          <p:cNvSpPr/>
          <p:nvPr/>
        </p:nvSpPr>
        <p:spPr>
          <a:xfrm>
            <a:off x="877824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event_count</a:t>
            </a:r>
          </a:p>
        </p:txBody>
      </p:sp>
      <p:sp>
        <p:nvSpPr>
          <p:cNvPr id="23" name="Text 34">
            <a:extLst>
              <a:ext uri="{FF2B5EF4-FFF2-40B4-BE49-F238E27FC236}">
                <a16:creationId xmlns:a16="http://schemas.microsoft.com/office/drawing/2014/main" id="{D2664250-C2AF-4084-BF28-7EEA1754937D}"/>
              </a:ext>
            </a:extLst>
          </p:cNvPr>
          <p:cNvSpPr/>
          <p:nvPr/>
        </p:nvSpPr>
        <p:spPr>
          <a:xfrm>
            <a:off x="914400" y="52120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выполнено по session_id, пропуски после merge заполнены нулями.</a:t>
            </a:r>
          </a:p>
        </p:txBody>
      </p:sp>
      <p:sp>
        <p:nvSpPr>
          <p:cNvPr id="24" name="Slide Number Placeholder 0">
            <a:extLst>
              <a:ext uri="{FF2B5EF4-FFF2-40B4-BE49-F238E27FC236}">
                <a16:creationId xmlns:a16="http://schemas.microsoft.com/office/drawing/2014/main" id="{8EB95B56-3392-4FC2-AFD9-D5DDED4B13A8}"/>
              </a:ext>
            </a:extLst>
          </p:cNvPr>
          <p:cNvSpPr txBox="1">
            <a:spLocks/>
          </p:cNvSpPr>
          <p:nvPr/>
        </p:nvSpPr>
        <p:spPr>
          <a:xfrm>
            <a:off x="11391900" y="6565900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0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380EFB3-29B9-4B63-B2D7-88947A2D4395}"/>
              </a:ext>
            </a:extLst>
          </p:cNvPr>
          <p:cNvSpPr/>
          <p:nvPr/>
        </p:nvSpPr>
        <p:spPr>
          <a:xfrm>
            <a:off x="46177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 и бизнес-задача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64979A-9D0A-4E32-B1F3-B90AE3654B4B}"/>
              </a:ext>
            </a:extLst>
          </p:cNvPr>
          <p:cNvSpPr/>
          <p:nvPr/>
        </p:nvSpPr>
        <p:spPr>
          <a:xfrm>
            <a:off x="86868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4DC034-1140-405D-8816-025BC572286F}"/>
              </a:ext>
            </a:extLst>
          </p:cNvPr>
          <p:cNvSpPr/>
          <p:nvPr/>
        </p:nvSpPr>
        <p:spPr>
          <a:xfrm>
            <a:off x="868680" y="2057400"/>
            <a:ext cx="26517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Предсказать вероятность того, что пользователь совершит целевое действие: заявка, звонок, открытие диалога или другой ключевой шаг.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773F846-10CD-44A3-8A6A-4AFD33A84D58}"/>
              </a:ext>
            </a:extLst>
          </p:cNvPr>
          <p:cNvSpPr/>
          <p:nvPr/>
        </p:nvSpPr>
        <p:spPr>
          <a:xfrm>
            <a:off x="45720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польза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014B0BC-B5A7-487E-9806-CD2808570D54}"/>
              </a:ext>
            </a:extLst>
          </p:cNvPr>
          <p:cNvSpPr/>
          <p:nvPr/>
        </p:nvSpPr>
        <p:spPr>
          <a:xfrm>
            <a:off x="4464138" y="2139509"/>
            <a:ext cx="2468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оценивать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каналы трафика</a:t>
            </a: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8AC14E5F-6E48-461F-87AF-7BFD0D0C53E1}"/>
              </a:ext>
            </a:extLst>
          </p:cNvPr>
          <p:cNvSpPr/>
          <p:nvPr/>
        </p:nvSpPr>
        <p:spPr>
          <a:xfrm>
            <a:off x="4464138" y="2596709"/>
            <a:ext cx="2468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улучшать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рекламные кампании</a:t>
            </a: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66B9672-05B9-43DB-8EC5-CA93672BC097}"/>
              </a:ext>
            </a:extLst>
          </p:cNvPr>
          <p:cNvSpPr/>
          <p:nvPr/>
        </p:nvSpPr>
        <p:spPr>
          <a:xfrm>
            <a:off x="4464138" y="3053909"/>
            <a:ext cx="2468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искать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слабые места UX</a:t>
            </a: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87604655-A9C0-4960-9099-43FA0F85957B}"/>
              </a:ext>
            </a:extLst>
          </p:cNvPr>
          <p:cNvSpPr/>
          <p:nvPr/>
        </p:nvSpPr>
        <p:spPr>
          <a:xfrm>
            <a:off x="4473469" y="3511109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выделять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визиты с высоким шансом заявки</a:t>
            </a: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3F0CE771-2DFE-45D9-BB94-4B5879AFEB6E}"/>
              </a:ext>
            </a:extLst>
          </p:cNvPr>
          <p:cNvSpPr/>
          <p:nvPr/>
        </p:nvSpPr>
        <p:spPr>
          <a:xfrm>
            <a:off x="827532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ML-постановка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500C096B-E9B5-4545-B58D-C82B1EAB721E}"/>
              </a:ext>
            </a:extLst>
          </p:cNvPr>
          <p:cNvSpPr/>
          <p:nvPr/>
        </p:nvSpPr>
        <p:spPr>
          <a:xfrm>
            <a:off x="827532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Бинарная классификация: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0 - целевого действия нет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целевое действие есть</a:t>
            </a: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1AB699C5-3AA2-4A04-963A-3EAE82C3642A}"/>
              </a:ext>
            </a:extLst>
          </p:cNvPr>
          <p:cNvSpPr/>
          <p:nvPr/>
        </p:nvSpPr>
        <p:spPr>
          <a:xfrm>
            <a:off x="827532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ROC-AUC, так как модель возвращает вероятность целевого действия.</a:t>
            </a:r>
          </a:p>
        </p:txBody>
      </p:sp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32F700EF-541D-490D-A981-8F6E89DB3C09}"/>
              </a:ext>
            </a:extLst>
          </p:cNvPr>
          <p:cNvSpPr txBox="1">
            <a:spLocks/>
          </p:cNvSpPr>
          <p:nvPr/>
        </p:nvSpPr>
        <p:spPr>
          <a:xfrm>
            <a:off x="11391900" y="6565900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8DCE598-5CC4-4764-BECE-01255019C02C}"/>
              </a:ext>
            </a:extLst>
          </p:cNvPr>
          <p:cNvSpPr/>
          <p:nvPr/>
        </p:nvSpPr>
        <p:spPr>
          <a:xfrm>
            <a:off x="809897" y="160113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2.7%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093654F-A08D-4A42-9BB6-A774CF2F4C56}"/>
              </a:ext>
            </a:extLst>
          </p:cNvPr>
          <p:cNvSpPr/>
          <p:nvPr/>
        </p:nvSpPr>
        <p:spPr>
          <a:xfrm>
            <a:off x="764177" y="208576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визитов с целевым действием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7BF99A-36CD-42C2-8680-6AA63A15B78E}"/>
              </a:ext>
            </a:extLst>
          </p:cNvPr>
          <p:cNvSpPr/>
          <p:nvPr/>
        </p:nvSpPr>
        <p:spPr>
          <a:xfrm>
            <a:off x="3095897" y="160113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97.3%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0467694-CD88-4B50-A034-9F8D5EB1ADFB}"/>
              </a:ext>
            </a:extLst>
          </p:cNvPr>
          <p:cNvSpPr/>
          <p:nvPr/>
        </p:nvSpPr>
        <p:spPr>
          <a:xfrm>
            <a:off x="3050177" y="2059311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визитов без целевого действия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3C5A733-D674-4A10-AE3E-A8B40A217221}"/>
              </a:ext>
            </a:extLst>
          </p:cNvPr>
          <p:cNvSpPr/>
          <p:nvPr/>
        </p:nvSpPr>
        <p:spPr>
          <a:xfrm>
            <a:off x="718457" y="3201334"/>
            <a:ext cx="4297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сильно несбалансированы: модель должна хорошо различать редкий положительный класс.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CF9837-9064-41D1-9932-7ED74B2CF0E7}"/>
              </a:ext>
            </a:extLst>
          </p:cNvPr>
          <p:cNvSpPr/>
          <p:nvPr/>
        </p:nvSpPr>
        <p:spPr>
          <a:xfrm>
            <a:off x="718457" y="4024294"/>
            <a:ext cx="4297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для оценки качества использована ROC-AUC, а не только accuracy.</a:t>
            </a: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F03CA0FA-610D-4468-BF44-40A6FDB43D91}"/>
              </a:ext>
            </a:extLst>
          </p:cNvPr>
          <p:cNvSpPr txBox="1">
            <a:spLocks/>
          </p:cNvSpPr>
          <p:nvPr/>
        </p:nvSpPr>
        <p:spPr>
          <a:xfrm>
            <a:off x="11391900" y="6565900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4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FA04D3-1D27-4165-9C92-26E625E0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12" y="1372530"/>
            <a:ext cx="5486411" cy="3657607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1EA90982-BE3C-4B20-9CB5-30240AC12653}"/>
              </a:ext>
            </a:extLst>
          </p:cNvPr>
          <p:cNvSpPr/>
          <p:nvPr/>
        </p:nvSpPr>
        <p:spPr>
          <a:xfrm>
            <a:off x="4754880" y="3847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EDA: дисбаланс классов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37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448774A-C52E-4904-ADA0-B98F33D88F0A}"/>
              </a:ext>
            </a:extLst>
          </p:cNvPr>
          <p:cNvSpPr/>
          <p:nvPr/>
        </p:nvSpPr>
        <p:spPr>
          <a:xfrm>
            <a:off x="4340737" y="441763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Поведенческие признаки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42628F4-4642-4DE8-8261-D849D312496E}"/>
              </a:ext>
            </a:extLst>
          </p:cNvPr>
          <p:cNvSpPr/>
          <p:nvPr/>
        </p:nvSpPr>
        <p:spPr>
          <a:xfrm>
            <a:off x="731520" y="55778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основная масса визитов короткая, но есть длинный хвост активных сессий. Такие признаки полезны для прогноза конверсии.</a:t>
            </a:r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9A3A62D5-9D6F-4EB8-B2F7-0D2D9CB3B74C}"/>
              </a:ext>
            </a:extLst>
          </p:cNvPr>
          <p:cNvSpPr txBox="1">
            <a:spLocks/>
          </p:cNvSpPr>
          <p:nvPr/>
        </p:nvSpPr>
        <p:spPr>
          <a:xfrm>
            <a:off x="11391900" y="6565900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F337B4-C4F7-4436-9A2E-CF49EB5B7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5" y="1600196"/>
            <a:ext cx="3716745" cy="36576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37360D-2046-418A-B7E9-AC585BE3A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645" y="1600195"/>
            <a:ext cx="3716746" cy="36576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537741-5E69-42D0-860E-473956D61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416" y="1680076"/>
            <a:ext cx="5005584" cy="333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0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0385F4F-DDA2-4348-91F4-6BE2D47ED10E}"/>
              </a:ext>
            </a:extLst>
          </p:cNvPr>
          <p:cNvSpPr/>
          <p:nvPr/>
        </p:nvSpPr>
        <p:spPr>
          <a:xfrm>
            <a:off x="1729903" y="452229"/>
            <a:ext cx="2796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Моделирование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821CE71-F136-4A86-BC34-A1543DEA60A2}"/>
              </a:ext>
            </a:extLst>
          </p:cNvPr>
          <p:cNvSpPr/>
          <p:nvPr/>
        </p:nvSpPr>
        <p:spPr>
          <a:xfrm>
            <a:off x="160020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признаков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53A983C-1AEF-4450-B46B-47B5D1FC01CC}"/>
              </a:ext>
            </a:extLst>
          </p:cNvPr>
          <p:cNvSpPr/>
          <p:nvPr/>
        </p:nvSpPr>
        <p:spPr>
          <a:xfrm>
            <a:off x="1600200" y="17190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Пропуски заполнены, категориальные признаки закодированы через get_dummies.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43316DD-C1F8-4E6F-8DCE-5EFC5443E53C}"/>
              </a:ext>
            </a:extLst>
          </p:cNvPr>
          <p:cNvSpPr/>
          <p:nvPr/>
        </p:nvSpPr>
        <p:spPr>
          <a:xfrm>
            <a:off x="160020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ED2287DA-F8D3-4A33-83A1-C4746D74A0BD}"/>
              </a:ext>
            </a:extLst>
          </p:cNvPr>
          <p:cNvSpPr/>
          <p:nvPr/>
        </p:nvSpPr>
        <p:spPr>
          <a:xfrm>
            <a:off x="1600200" y="3273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80/20 с сохранением соотношения классов.</a:t>
            </a: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FCA5A27-8F1F-44CF-94D0-E6520D56AC2C}"/>
              </a:ext>
            </a:extLst>
          </p:cNvPr>
          <p:cNvSpPr/>
          <p:nvPr/>
        </p:nvSpPr>
        <p:spPr>
          <a:xfrm>
            <a:off x="1600200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336F2C2-9AAD-4F31-8783-DDB4008F9EF5}"/>
              </a:ext>
            </a:extLst>
          </p:cNvPr>
          <p:cNvSpPr/>
          <p:nvPr/>
        </p:nvSpPr>
        <p:spPr>
          <a:xfrm>
            <a:off x="1600200" y="4828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выбрана как устойчивая к нелинейностям и удобная для анализа важности признаков.</a:t>
            </a: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EA5942A9-48EE-406C-B021-FC71B183C94C}"/>
              </a:ext>
            </a:extLst>
          </p:cNvPr>
          <p:cNvSpPr txBox="1">
            <a:spLocks/>
          </p:cNvSpPr>
          <p:nvPr/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6</a:t>
            </a:fld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8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74A193-FBE6-4891-B4D7-CC9AC6AF1F4E}"/>
              </a:ext>
            </a:extLst>
          </p:cNvPr>
          <p:cNvSpPr/>
          <p:nvPr/>
        </p:nvSpPr>
        <p:spPr>
          <a:xfrm>
            <a:off x="59436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Результат модели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723CE5E-559B-4127-A632-78FC54829328}"/>
              </a:ext>
            </a:extLst>
          </p:cNvPr>
          <p:cNvSpPr/>
          <p:nvPr/>
        </p:nvSpPr>
        <p:spPr>
          <a:xfrm>
            <a:off x="777240" y="5074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0.8402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8C10769-293B-4AB2-8028-91C631A4803E}"/>
              </a:ext>
            </a:extLst>
          </p:cNvPr>
          <p:cNvSpPr/>
          <p:nvPr/>
        </p:nvSpPr>
        <p:spPr>
          <a:xfrm>
            <a:off x="7235140" y="56829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хорошо отделяет визиты с целевым действием от остальных.</a:t>
            </a:r>
          </a:p>
        </p:txBody>
      </p:sp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83E28073-7A5A-4426-B3BD-9D7B76734E88}"/>
              </a:ext>
            </a:extLst>
          </p:cNvPr>
          <p:cNvSpPr txBox="1">
            <a:spLocks/>
          </p:cNvSpPr>
          <p:nvPr/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1B90BF-C172-40C7-8A5B-7774245A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98" y="1600196"/>
            <a:ext cx="6364233" cy="31821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5FE05E-D0E1-4361-A77E-BC2DDFCB3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310" y="1393775"/>
            <a:ext cx="4070450" cy="40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3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4BDB5EB-290D-4D41-A2C1-5DC4BAF41257}"/>
              </a:ext>
            </a:extLst>
          </p:cNvPr>
          <p:cNvSpPr/>
          <p:nvPr/>
        </p:nvSpPr>
        <p:spPr>
          <a:xfrm>
            <a:off x="78638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признаки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063B525-7708-4B9F-958D-6A3BB84638AE}"/>
              </a:ext>
            </a:extLst>
          </p:cNvPr>
          <p:cNvSpPr/>
          <p:nvPr/>
        </p:nvSpPr>
        <p:spPr>
          <a:xfrm>
            <a:off x="7772400" y="1776377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event_count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событий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40984B4-397E-48EC-A671-609CAD84C953}"/>
              </a:ext>
            </a:extLst>
          </p:cNvPr>
          <p:cNvSpPr/>
          <p:nvPr/>
        </p:nvSpPr>
        <p:spPr>
          <a:xfrm>
            <a:off x="7772400" y="2233577"/>
            <a:ext cx="3291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hits_count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глубина взаимодействия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672C9D8-7307-493E-AB3A-B37998971EE0}"/>
              </a:ext>
            </a:extLst>
          </p:cNvPr>
          <p:cNvSpPr/>
          <p:nvPr/>
        </p:nvSpPr>
        <p:spPr>
          <a:xfrm>
            <a:off x="7772400" y="2690777"/>
            <a:ext cx="3291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pages_count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уникальных страниц</a:t>
            </a: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74DC8AA-9D90-4E2F-9471-4DD2F4495C45}"/>
              </a:ext>
            </a:extLst>
          </p:cNvPr>
          <p:cNvSpPr/>
          <p:nvPr/>
        </p:nvSpPr>
        <p:spPr>
          <a:xfrm>
            <a:off x="7772400" y="3147977"/>
            <a:ext cx="3291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visit_number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повторность визита</a:t>
            </a: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4C8D6FF-4A53-43D6-92FA-E1F7C2824F13}"/>
              </a:ext>
            </a:extLst>
          </p:cNvPr>
          <p:cNvSpPr/>
          <p:nvPr/>
        </p:nvSpPr>
        <p:spPr>
          <a:xfrm>
            <a:off x="7772400" y="3605177"/>
            <a:ext cx="3291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utm_medium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 трафика</a:t>
            </a: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69A991F-DBC4-4C33-A698-DE392480222F}"/>
              </a:ext>
            </a:extLst>
          </p:cNvPr>
          <p:cNvSpPr/>
          <p:nvPr/>
        </p:nvSpPr>
        <p:spPr>
          <a:xfrm>
            <a:off x="786384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поведение пользователя на сайте оказалось важнее большинства технических признаков устройства.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40306E3-E508-4059-8918-B1DBDE095522}"/>
              </a:ext>
            </a:extLst>
          </p:cNvPr>
          <p:cNvSpPr/>
          <p:nvPr/>
        </p:nvSpPr>
        <p:spPr>
          <a:xfrm>
            <a:off x="4411758" y="27218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Интерпретация модели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3C4E68-EAEE-4134-92C9-758EBFB7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305"/>
            <a:ext cx="7531618" cy="4518971"/>
          </a:xfrm>
          <a:prstGeom prst="rect">
            <a:avLst/>
          </a:prstGeom>
        </p:spPr>
      </p:pic>
      <p:sp>
        <p:nvSpPr>
          <p:cNvPr id="13" name="Slide Number Placeholder 0">
            <a:extLst>
              <a:ext uri="{FF2B5EF4-FFF2-40B4-BE49-F238E27FC236}">
                <a16:creationId xmlns:a16="http://schemas.microsoft.com/office/drawing/2014/main" id="{63FB9AD1-B916-42E1-BC2D-9B1EA0BC3C76}"/>
              </a:ext>
            </a:extLst>
          </p:cNvPr>
          <p:cNvSpPr txBox="1">
            <a:spLocks/>
          </p:cNvSpPr>
          <p:nvPr/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6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60DA03-A130-4E71-99C8-A0B8DEB9C05E}"/>
              </a:ext>
            </a:extLst>
          </p:cNvPr>
          <p:cNvSpPr/>
          <p:nvPr/>
        </p:nvSpPr>
        <p:spPr>
          <a:xfrm>
            <a:off x="4419600" y="49606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Итоги и рекомендации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1BFE075-9A92-46AC-A5E5-356B39730FB9}"/>
              </a:ext>
            </a:extLst>
          </p:cNvPr>
          <p:cNvSpPr/>
          <p:nvPr/>
        </p:nvSpPr>
        <p:spPr>
          <a:xfrm>
            <a:off x="10058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602AB52E-1F9A-49F4-9B28-D5AA4B59A6F3}"/>
              </a:ext>
            </a:extLst>
          </p:cNvPr>
          <p:cNvSpPr/>
          <p:nvPr/>
        </p:nvSpPr>
        <p:spPr>
          <a:xfrm>
            <a:off x="44196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C04889A8-3FAD-458C-99AD-2A6A3FB212E5}"/>
              </a:ext>
            </a:extLst>
          </p:cNvPr>
          <p:cNvSpPr/>
          <p:nvPr/>
        </p:nvSpPr>
        <p:spPr>
          <a:xfrm>
            <a:off x="86410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490944EE-59FD-4CBE-BD5E-59C923C3A6EE}"/>
              </a:ext>
            </a:extLst>
          </p:cNvPr>
          <p:cNvSpPr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можно использовать как основу для оценки качества визитов и приоритизации маркетинговых действий.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E8A0263A-0D3D-44A6-8035-0E92608CEB7F}"/>
              </a:ext>
            </a:extLst>
          </p:cNvPr>
          <p:cNvSpPr txBox="1">
            <a:spLocks/>
          </p:cNvSpPr>
          <p:nvPr/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9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CA17BA3-A942-4494-A069-7CB1FF5FB7D5}"/>
              </a:ext>
            </a:extLst>
          </p:cNvPr>
          <p:cNvSpPr/>
          <p:nvPr/>
        </p:nvSpPr>
        <p:spPr>
          <a:xfrm>
            <a:off x="914400" y="2400300"/>
            <a:ext cx="2947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объединены по session_id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EF75D9-0293-45A6-B8A5-3865E7B681FB}"/>
              </a:ext>
            </a:extLst>
          </p:cNvPr>
          <p:cNvSpPr/>
          <p:nvPr/>
        </p:nvSpPr>
        <p:spPr>
          <a:xfrm>
            <a:off x="914400" y="28575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ML-модель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DFF25C1-9798-4CAA-8072-8A4DF8EBBE4F}"/>
              </a:ext>
            </a:extLst>
          </p:cNvPr>
          <p:cNvSpPr/>
          <p:nvPr/>
        </p:nvSpPr>
        <p:spPr>
          <a:xfrm>
            <a:off x="914400" y="33147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0.8402</a:t>
            </a: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EB7F6FA-B166-4DF9-949C-23092963B07E}"/>
              </a:ext>
            </a:extLst>
          </p:cNvPr>
          <p:cNvSpPr/>
          <p:nvPr/>
        </p:nvSpPr>
        <p:spPr>
          <a:xfrm>
            <a:off x="4328160" y="2400300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анализировать активные сессии</a:t>
            </a: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0D26A962-211F-4BD7-9D2E-B5BCC5ACC2EA}"/>
              </a:ext>
            </a:extLst>
          </p:cNvPr>
          <p:cNvSpPr/>
          <p:nvPr/>
        </p:nvSpPr>
        <p:spPr>
          <a:xfrm>
            <a:off x="4328160" y="28575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оценивать источники трафика</a:t>
            </a: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BDDF8FBD-1025-44B5-97E2-496A3BE666DB}"/>
              </a:ext>
            </a:extLst>
          </p:cNvPr>
          <p:cNvSpPr/>
          <p:nvPr/>
        </p:nvSpPr>
        <p:spPr>
          <a:xfrm>
            <a:off x="4328160" y="331470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улучшать страницы с низкой конверсией</a:t>
            </a:r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2A100059-2A47-4066-85AC-567F62558509}"/>
              </a:ext>
            </a:extLst>
          </p:cNvPr>
          <p:cNvSpPr/>
          <p:nvPr/>
        </p:nvSpPr>
        <p:spPr>
          <a:xfrm>
            <a:off x="8549640" y="24003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гиперпараметров</a:t>
            </a:r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69C262F8-ED7E-45EE-8EB6-8E65D939D8CB}"/>
              </a:ext>
            </a:extLst>
          </p:cNvPr>
          <p:cNvSpPr/>
          <p:nvPr/>
        </p:nvSpPr>
        <p:spPr>
          <a:xfrm>
            <a:off x="8549640" y="28575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новых признаков</a:t>
            </a: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B710F0BF-BC71-4BCD-BD78-F5175462AAB1}"/>
              </a:ext>
            </a:extLst>
          </p:cNvPr>
          <p:cNvSpPr/>
          <p:nvPr/>
        </p:nvSpPr>
        <p:spPr>
          <a:xfrm>
            <a:off x="8549640" y="331470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модели в API</a:t>
            </a:r>
          </a:p>
        </p:txBody>
      </p:sp>
    </p:spTree>
    <p:extLst>
      <p:ext uri="{BB962C8B-B14F-4D97-AF65-F5344CB8AC3E}">
        <p14:creationId xmlns:p14="http://schemas.microsoft.com/office/powerpoint/2010/main" val="1172794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9C3134B-F2B0-4CBE-852D-841106076A75}"/>
              </a:ext>
            </a:extLst>
          </p:cNvPr>
          <p:cNvSpPr/>
          <p:nvPr/>
        </p:nvSpPr>
        <p:spPr>
          <a:xfrm>
            <a:off x="4145280" y="4353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Источники и материалы проекта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C0FC6F-8908-414D-B532-38563DD9A9CB}"/>
              </a:ext>
            </a:extLst>
          </p:cNvPr>
          <p:cNvSpPr/>
          <p:nvPr/>
        </p:nvSpPr>
        <p:spPr>
          <a:xfrm>
            <a:off x="612648" y="1447548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Бриф учебной задачи: цель проекта, описание продукта, критерии оценки и требование к ROC-AUC.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1853FB6-329D-41CE-93DC-4AA5743A0A7B}"/>
              </a:ext>
            </a:extLst>
          </p:cNvPr>
          <p:cNvSpPr/>
          <p:nvPr/>
        </p:nvSpPr>
        <p:spPr>
          <a:xfrm>
            <a:off x="612648" y="2041908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данных: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ga_sessions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визиты,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ga_hits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события внутри визитов.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1BD46AC-9A1F-4450-880A-E6BFA774275D}"/>
              </a:ext>
            </a:extLst>
          </p:cNvPr>
          <p:cNvSpPr/>
          <p:nvPr/>
        </p:nvSpPr>
        <p:spPr>
          <a:xfrm>
            <a:off x="612648" y="2636268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 по ROC-AUC: интерпретация метрики для бинарной классификации.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446524CC-5ED5-4ABF-A35A-D6E75F73F227}"/>
              </a:ext>
            </a:extLst>
          </p:cNvPr>
          <p:cNvSpPr/>
          <p:nvPr/>
        </p:nvSpPr>
        <p:spPr>
          <a:xfrm>
            <a:off x="612648" y="3230628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анализа: агрегация событий, объединение данных, обучение RandomForestClassifier.</a:t>
            </a: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6F399325-E1CC-430C-B918-6CDD8259C404}"/>
              </a:ext>
            </a:extLst>
          </p:cNvPr>
          <p:cNvSpPr/>
          <p:nvPr/>
        </p:nvSpPr>
        <p:spPr>
          <a:xfrm>
            <a:off x="123444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результат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76A86872-2829-4E52-A282-9B9EB6CFCD38}"/>
              </a:ext>
            </a:extLst>
          </p:cNvPr>
          <p:cNvSpPr/>
          <p:nvPr/>
        </p:nvSpPr>
        <p:spPr>
          <a:xfrm>
            <a:off x="4069080" y="4590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0.8402 - модель превышает ориентир задания и хорошо ранжирует визиты по вероятности целевого действия.</a:t>
            </a: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651E04D5-9C26-4AED-8386-5B8971A2D6F1}"/>
              </a:ext>
            </a:extLst>
          </p:cNvPr>
          <p:cNvSpPr txBox="1">
            <a:spLocks/>
          </p:cNvSpPr>
          <p:nvPr/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50" kern="1200">
                <a:solidFill>
                  <a:srgbClr val="7A8AA0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/>
              <a:t>10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694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488</Words>
  <Application>Microsoft Office PowerPoint</Application>
  <PresentationFormat>Широкоэкранный</PresentationFormat>
  <Paragraphs>95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Русик</dc:creator>
  <cp:lastModifiedBy>Русик</cp:lastModifiedBy>
  <cp:revision>1</cp:revision>
  <dcterms:created xsi:type="dcterms:W3CDTF">2026-05-24T16:20:27Z</dcterms:created>
  <dcterms:modified xsi:type="dcterms:W3CDTF">2026-05-24T16:27:22Z</dcterms:modified>
</cp:coreProperties>
</file>